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3"/>
  </p:notesMasterIdLst>
  <p:handoutMasterIdLst>
    <p:handoutMasterId r:id="rId4"/>
  </p:handoutMasterIdLst>
  <p:sldIdLst>
    <p:sldId id="257" r:id="rId2"/>
  </p:sldIdLst>
  <p:sldSz cx="43891200" cy="32918400"/>
  <p:notesSz cx="6858000" cy="9144000"/>
  <p:defaultText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1FB1"/>
    <a:srgbClr val="FEC24D"/>
    <a:srgbClr val="0D0D0D"/>
    <a:srgbClr val="003764"/>
    <a:srgbClr val="FFB915"/>
    <a:srgbClr val="004A8D"/>
    <a:srgbClr val="CDD2DE"/>
    <a:srgbClr val="FFFFFF"/>
    <a:srgbClr val="F3F5FA"/>
    <a:srgbClr val="E3E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8934" autoAdjust="0"/>
    <p:restoredTop sz="94679" autoAdjust="0"/>
  </p:normalViewPr>
  <p:slideViewPr>
    <p:cSldViewPr snapToGrid="0" snapToObjects="1" showGuides="1">
      <p:cViewPr varScale="1">
        <p:scale>
          <a:sx n="15" d="100"/>
          <a:sy n="15" d="100"/>
        </p:scale>
        <p:origin x="1420" y="132"/>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79" d="100"/>
          <a:sy n="79" d="100"/>
        </p:scale>
        <p:origin x="-3768"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commentAuthors" Target="commentAuthors.xml"/><Relationship Id="rId4" Type="http://schemas.openxmlformats.org/officeDocument/2006/relationships/handoutMaster" Target="handoutMasters/handout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8/23/2025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8/23/2025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166" rtl="0" eaLnBrk="1" latinLnBrk="0" hangingPunct="1">
      <a:defRPr sz="5800" kern="1200">
        <a:solidFill>
          <a:schemeClr val="tx1"/>
        </a:solidFill>
        <a:latin typeface="+mn-lt"/>
        <a:ea typeface="+mn-ea"/>
        <a:cs typeface="+mn-cs"/>
      </a:defRPr>
    </a:lvl1pPr>
    <a:lvl2pPr marL="2194085" algn="l" defTabSz="4388166" rtl="0" eaLnBrk="1" latinLnBrk="0" hangingPunct="1">
      <a:defRPr sz="5800" kern="1200">
        <a:solidFill>
          <a:schemeClr val="tx1"/>
        </a:solidFill>
        <a:latin typeface="+mn-lt"/>
        <a:ea typeface="+mn-ea"/>
        <a:cs typeface="+mn-cs"/>
      </a:defRPr>
    </a:lvl2pPr>
    <a:lvl3pPr marL="4388166" algn="l" defTabSz="4388166" rtl="0" eaLnBrk="1" latinLnBrk="0" hangingPunct="1">
      <a:defRPr sz="5800" kern="1200">
        <a:solidFill>
          <a:schemeClr val="tx1"/>
        </a:solidFill>
        <a:latin typeface="+mn-lt"/>
        <a:ea typeface="+mn-ea"/>
        <a:cs typeface="+mn-cs"/>
      </a:defRPr>
    </a:lvl3pPr>
    <a:lvl4pPr marL="6582250" algn="l" defTabSz="4388166" rtl="0" eaLnBrk="1" latinLnBrk="0" hangingPunct="1">
      <a:defRPr sz="5800" kern="1200">
        <a:solidFill>
          <a:schemeClr val="tx1"/>
        </a:solidFill>
        <a:latin typeface="+mn-lt"/>
        <a:ea typeface="+mn-ea"/>
        <a:cs typeface="+mn-cs"/>
      </a:defRPr>
    </a:lvl4pPr>
    <a:lvl5pPr marL="8776332" algn="l" defTabSz="4388166" rtl="0" eaLnBrk="1" latinLnBrk="0" hangingPunct="1">
      <a:defRPr sz="5800" kern="1200">
        <a:solidFill>
          <a:schemeClr val="tx1"/>
        </a:solidFill>
        <a:latin typeface="+mn-lt"/>
        <a:ea typeface="+mn-ea"/>
        <a:cs typeface="+mn-cs"/>
      </a:defRPr>
    </a:lvl5pPr>
    <a:lvl6pPr marL="10970417" algn="l" defTabSz="4388166" rtl="0" eaLnBrk="1" latinLnBrk="0" hangingPunct="1">
      <a:defRPr sz="5800" kern="1200">
        <a:solidFill>
          <a:schemeClr val="tx1"/>
        </a:solidFill>
        <a:latin typeface="+mn-lt"/>
        <a:ea typeface="+mn-ea"/>
        <a:cs typeface="+mn-cs"/>
      </a:defRPr>
    </a:lvl6pPr>
    <a:lvl7pPr marL="13164501" algn="l" defTabSz="4388166" rtl="0" eaLnBrk="1" latinLnBrk="0" hangingPunct="1">
      <a:defRPr sz="5800" kern="1200">
        <a:solidFill>
          <a:schemeClr val="tx1"/>
        </a:solidFill>
        <a:latin typeface="+mn-lt"/>
        <a:ea typeface="+mn-ea"/>
        <a:cs typeface="+mn-cs"/>
      </a:defRPr>
    </a:lvl7pPr>
    <a:lvl8pPr marL="15358582" algn="l" defTabSz="4388166" rtl="0" eaLnBrk="1" latinLnBrk="0" hangingPunct="1">
      <a:defRPr sz="5800" kern="1200">
        <a:solidFill>
          <a:schemeClr val="tx1"/>
        </a:solidFill>
        <a:latin typeface="+mn-lt"/>
        <a:ea typeface="+mn-ea"/>
        <a:cs typeface="+mn-cs"/>
      </a:defRPr>
    </a:lvl8pPr>
    <a:lvl9pPr marL="17552667" algn="l" defTabSz="4388166"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344679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344703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5222775" y="5494271"/>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5213932" y="6246906"/>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4210586"/>
            <a:ext cx="1343326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4963221"/>
            <a:ext cx="13433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5222514" y="19623929"/>
            <a:ext cx="13478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5222514" y="20376564"/>
            <a:ext cx="134787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29550248" y="5507710"/>
            <a:ext cx="1342245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29541404" y="6260345"/>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29538883" y="15021431"/>
            <a:ext cx="13437679"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29538883" y="15774066"/>
            <a:ext cx="1343791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29554104" y="25654614"/>
            <a:ext cx="134313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29554104" y="26407249"/>
            <a:ext cx="13422696"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9" name="Text Placeholder 7">
            <a:extLst>
              <a:ext uri="{FF2B5EF4-FFF2-40B4-BE49-F238E27FC236}">
                <a16:creationId xmlns:a16="http://schemas.microsoft.com/office/drawing/2014/main" id="{BFACF34B-4E8E-442C-A33E-57FD0FF8433A}"/>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0" name="Text Placeholder 7">
            <a:extLst>
              <a:ext uri="{FF2B5EF4-FFF2-40B4-BE49-F238E27FC236}">
                <a16:creationId xmlns:a16="http://schemas.microsoft.com/office/drawing/2014/main" id="{3C31251A-CD58-4857-8E51-6BB5A936D6BA}"/>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cSld>
  <p:clrMapOvr>
    <a:masterClrMapping/>
  </p:clrMapOvr>
  <p:extLst>
    <p:ext uri="{DCECCB84-F9BA-43D5-87BE-67443E8EF086}">
      <p15:sldGuideLst xmlns:p15="http://schemas.microsoft.com/office/powerpoint/2012/main">
        <p15:guide id="1" pos="4800" userDrawn="1">
          <p15:clr>
            <a:srgbClr val="FDE53C"/>
          </p15:clr>
        </p15:guide>
        <p15:guide id="3" pos="9120" userDrawn="1">
          <p15:clr>
            <a:srgbClr val="F26B43"/>
          </p15:clr>
        </p15:guide>
        <p15:guide id="4" pos="18600" userDrawn="1">
          <p15:clr>
            <a:srgbClr val="F26B43"/>
          </p15:clr>
        </p15:guide>
        <p15:guide id="5" pos="9576" userDrawn="1">
          <p15:clr>
            <a:srgbClr val="F26B43"/>
          </p15:clr>
        </p15:guide>
        <p15:guide id="6" pos="18120" userDrawn="1">
          <p15:clr>
            <a:srgbClr val="F26B43"/>
          </p15:clr>
        </p15:guide>
        <p15:guide id="8" orient="horz" pos="3456" userDrawn="1">
          <p15:clr>
            <a:srgbClr val="F26B43"/>
          </p15:clr>
        </p15:guide>
        <p15:guide id="10" pos="22824" userDrawn="1">
          <p15:clr>
            <a:srgbClr val="FDE53C"/>
          </p15:clr>
        </p15:guide>
        <p15:guide id="11" pos="13824" userDrawn="1">
          <p15:clr>
            <a:srgbClr val="FDE53C"/>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 Wide">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1" y="5494271"/>
            <a:ext cx="109701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9702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2543743" y="5494271"/>
            <a:ext cx="1881255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2534900" y="6246906"/>
            <a:ext cx="18821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3" y="18977598"/>
            <a:ext cx="10956813"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9570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12552586" y="18977598"/>
            <a:ext cx="1880371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12543742" y="19730233"/>
            <a:ext cx="1881255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003998" y="5507710"/>
            <a:ext cx="10961305"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004000" y="6260345"/>
            <a:ext cx="109654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003999" y="15021431"/>
            <a:ext cx="10970148"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003999" y="15774066"/>
            <a:ext cx="10974243"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004000" y="25654614"/>
            <a:ext cx="10974004"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 or contact</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004000" y="26407249"/>
            <a:ext cx="109781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C592AD3B-7A54-4176-9B89-DAF7C8CDE26F}"/>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F53351EE-43CF-4BED-88D8-C1463456F399}"/>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1589026171"/>
      </p:ext>
    </p:extLst>
  </p:cSld>
  <p:clrMapOvr>
    <a:masterClrMapping/>
  </p:clrMapOvr>
  <p:extLst>
    <p:ext uri="{DCECCB84-F9BA-43D5-87BE-67443E8EF086}">
      <p15:sldGuideLst xmlns:p15="http://schemas.microsoft.com/office/powerpoint/2012/main">
        <p15:guide id="1" pos="4032" userDrawn="1">
          <p15:clr>
            <a:srgbClr val="FDE53C"/>
          </p15:clr>
        </p15:guide>
        <p15:guide id="3" pos="7488" userDrawn="1">
          <p15:clr>
            <a:srgbClr val="F26B43"/>
          </p15:clr>
        </p15:guide>
        <p15:guide id="4" pos="20160" userDrawn="1">
          <p15:clr>
            <a:srgbClr val="F26B43"/>
          </p15:clr>
        </p15:guide>
        <p15:guide id="5" pos="7896" userDrawn="1">
          <p15:clr>
            <a:srgbClr val="F26B43"/>
          </p15:clr>
        </p15:guide>
        <p15:guide id="6" pos="19752" userDrawn="1">
          <p15:clr>
            <a:srgbClr val="F26B43"/>
          </p15:clr>
        </p15:guide>
        <p15:guide id="8" orient="horz" pos="3456" userDrawn="1">
          <p15:clr>
            <a:srgbClr val="F26B43"/>
          </p15:clr>
        </p15:guide>
        <p15:guide id="10" pos="23616" userDrawn="1">
          <p15:clr>
            <a:srgbClr val="FDE53C"/>
          </p15:clr>
        </p15:guide>
        <p15:guide id="11" pos="13824" userDrawn="1">
          <p15:clr>
            <a:srgbClr val="FDE53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31" name="Text Placeholder 5"/>
          <p:cNvSpPr>
            <a:spLocks noGrp="1"/>
          </p:cNvSpPr>
          <p:nvPr>
            <p:ph type="body" sz="quarter" idx="11" hasCustomPrompt="1"/>
          </p:nvPr>
        </p:nvSpPr>
        <p:spPr>
          <a:xfrm>
            <a:off x="916902" y="5494271"/>
            <a:ext cx="1001762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INTRODUCTION OR ABSTRACT</a:t>
            </a:r>
          </a:p>
        </p:txBody>
      </p:sp>
      <p:sp>
        <p:nvSpPr>
          <p:cNvPr id="38" name="Text Placeholder 9"/>
          <p:cNvSpPr>
            <a:spLocks noGrp="1"/>
          </p:cNvSpPr>
          <p:nvPr>
            <p:ph type="body" sz="quarter" idx="157"/>
          </p:nvPr>
        </p:nvSpPr>
        <p:spPr>
          <a:xfrm>
            <a:off x="916901" y="6246906"/>
            <a:ext cx="10017799"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5">
            <a:extLst>
              <a:ext uri="{FF2B5EF4-FFF2-40B4-BE49-F238E27FC236}">
                <a16:creationId xmlns:a16="http://schemas.microsoft.com/office/drawing/2014/main" id="{652737DD-B1A6-4D41-9C8D-9A93E090FAE3}"/>
              </a:ext>
            </a:extLst>
          </p:cNvPr>
          <p:cNvSpPr>
            <a:spLocks noGrp="1"/>
          </p:cNvSpPr>
          <p:nvPr>
            <p:ph type="body" sz="quarter" idx="165" hasCustomPrompt="1"/>
          </p:nvPr>
        </p:nvSpPr>
        <p:spPr>
          <a:xfrm>
            <a:off x="11591244" y="5494271"/>
            <a:ext cx="1001559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MATERIALS AND METHODS</a:t>
            </a:r>
          </a:p>
        </p:txBody>
      </p:sp>
      <p:sp>
        <p:nvSpPr>
          <p:cNvPr id="30" name="Text Placeholder 9">
            <a:extLst>
              <a:ext uri="{FF2B5EF4-FFF2-40B4-BE49-F238E27FC236}">
                <a16:creationId xmlns:a16="http://schemas.microsoft.com/office/drawing/2014/main" id="{ECE2636A-B209-4444-AFAD-96BF1EF74A08}"/>
              </a:ext>
            </a:extLst>
          </p:cNvPr>
          <p:cNvSpPr>
            <a:spLocks noGrp="1"/>
          </p:cNvSpPr>
          <p:nvPr>
            <p:ph type="body" sz="quarter" idx="178"/>
          </p:nvPr>
        </p:nvSpPr>
        <p:spPr>
          <a:xfrm>
            <a:off x="11582400" y="6246906"/>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5">
            <a:extLst>
              <a:ext uri="{FF2B5EF4-FFF2-40B4-BE49-F238E27FC236}">
                <a16:creationId xmlns:a16="http://schemas.microsoft.com/office/drawing/2014/main" id="{908EB3C9-CB15-4087-A546-BD4985500B88}"/>
              </a:ext>
            </a:extLst>
          </p:cNvPr>
          <p:cNvSpPr>
            <a:spLocks noGrp="1"/>
          </p:cNvSpPr>
          <p:nvPr>
            <p:ph type="body" sz="quarter" idx="187" hasCustomPrompt="1"/>
          </p:nvPr>
        </p:nvSpPr>
        <p:spPr>
          <a:xfrm>
            <a:off x="930194" y="18977598"/>
            <a:ext cx="1000433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OBJECTIVES</a:t>
            </a:r>
          </a:p>
        </p:txBody>
      </p:sp>
      <p:sp>
        <p:nvSpPr>
          <p:cNvPr id="52" name="Text Placeholder 9">
            <a:extLst>
              <a:ext uri="{FF2B5EF4-FFF2-40B4-BE49-F238E27FC236}">
                <a16:creationId xmlns:a16="http://schemas.microsoft.com/office/drawing/2014/main" id="{9FDA0773-1FE0-4728-A1F5-C436776EAB42}"/>
              </a:ext>
            </a:extLst>
          </p:cNvPr>
          <p:cNvSpPr>
            <a:spLocks noGrp="1"/>
          </p:cNvSpPr>
          <p:nvPr>
            <p:ph type="body" sz="quarter" idx="188"/>
          </p:nvPr>
        </p:nvSpPr>
        <p:spPr>
          <a:xfrm>
            <a:off x="930193" y="19730233"/>
            <a:ext cx="10004507"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5">
            <a:extLst>
              <a:ext uri="{FF2B5EF4-FFF2-40B4-BE49-F238E27FC236}">
                <a16:creationId xmlns:a16="http://schemas.microsoft.com/office/drawing/2014/main" id="{F110AEC8-93C7-4A0C-BC30-682880E5F086}"/>
              </a:ext>
            </a:extLst>
          </p:cNvPr>
          <p:cNvSpPr>
            <a:spLocks noGrp="1"/>
          </p:cNvSpPr>
          <p:nvPr>
            <p:ph type="body" sz="quarter" idx="189" hasCustomPrompt="1"/>
          </p:nvPr>
        </p:nvSpPr>
        <p:spPr>
          <a:xfrm>
            <a:off x="22297344" y="5507710"/>
            <a:ext cx="10015590"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results</a:t>
            </a:r>
          </a:p>
        </p:txBody>
      </p:sp>
      <p:sp>
        <p:nvSpPr>
          <p:cNvPr id="62" name="Text Placeholder 9">
            <a:extLst>
              <a:ext uri="{FF2B5EF4-FFF2-40B4-BE49-F238E27FC236}">
                <a16:creationId xmlns:a16="http://schemas.microsoft.com/office/drawing/2014/main" id="{F9CD33FB-B993-493F-95FC-70AF51B4F9C9}"/>
              </a:ext>
            </a:extLst>
          </p:cNvPr>
          <p:cNvSpPr>
            <a:spLocks noGrp="1"/>
          </p:cNvSpPr>
          <p:nvPr>
            <p:ph type="body" sz="quarter" idx="190"/>
          </p:nvPr>
        </p:nvSpPr>
        <p:spPr>
          <a:xfrm>
            <a:off x="22288501" y="6260345"/>
            <a:ext cx="100203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3" name="Text Placeholder 5">
            <a:extLst>
              <a:ext uri="{FF2B5EF4-FFF2-40B4-BE49-F238E27FC236}">
                <a16:creationId xmlns:a16="http://schemas.microsoft.com/office/drawing/2014/main" id="{E8E00E69-0E96-4B46-A1B9-16881A33D210}"/>
              </a:ext>
            </a:extLst>
          </p:cNvPr>
          <p:cNvSpPr>
            <a:spLocks noGrp="1"/>
          </p:cNvSpPr>
          <p:nvPr>
            <p:ph type="body" sz="quarter" idx="191" hasCustomPrompt="1"/>
          </p:nvPr>
        </p:nvSpPr>
        <p:spPr>
          <a:xfrm>
            <a:off x="32956142" y="5507710"/>
            <a:ext cx="10009161"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conclusion</a:t>
            </a:r>
          </a:p>
        </p:txBody>
      </p:sp>
      <p:sp>
        <p:nvSpPr>
          <p:cNvPr id="64" name="Text Placeholder 9">
            <a:extLst>
              <a:ext uri="{FF2B5EF4-FFF2-40B4-BE49-F238E27FC236}">
                <a16:creationId xmlns:a16="http://schemas.microsoft.com/office/drawing/2014/main" id="{BAAAC21B-7F2B-487F-BEC4-58C38C568670}"/>
              </a:ext>
            </a:extLst>
          </p:cNvPr>
          <p:cNvSpPr>
            <a:spLocks noGrp="1"/>
          </p:cNvSpPr>
          <p:nvPr>
            <p:ph type="body" sz="quarter" idx="192"/>
          </p:nvPr>
        </p:nvSpPr>
        <p:spPr>
          <a:xfrm>
            <a:off x="32956500" y="6260345"/>
            <a:ext cx="10012900"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5" name="Text Placeholder 5">
            <a:extLst>
              <a:ext uri="{FF2B5EF4-FFF2-40B4-BE49-F238E27FC236}">
                <a16:creationId xmlns:a16="http://schemas.microsoft.com/office/drawing/2014/main" id="{59B0C7A5-E0E3-4314-B563-0B9357C3E2A8}"/>
              </a:ext>
            </a:extLst>
          </p:cNvPr>
          <p:cNvSpPr>
            <a:spLocks noGrp="1"/>
          </p:cNvSpPr>
          <p:nvPr>
            <p:ph type="body" sz="quarter" idx="193" hasCustomPrompt="1"/>
          </p:nvPr>
        </p:nvSpPr>
        <p:spPr>
          <a:xfrm>
            <a:off x="32956145" y="15021431"/>
            <a:ext cx="10018002"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references</a:t>
            </a:r>
          </a:p>
        </p:txBody>
      </p:sp>
      <p:sp>
        <p:nvSpPr>
          <p:cNvPr id="66" name="Text Placeholder 9">
            <a:extLst>
              <a:ext uri="{FF2B5EF4-FFF2-40B4-BE49-F238E27FC236}">
                <a16:creationId xmlns:a16="http://schemas.microsoft.com/office/drawing/2014/main" id="{6F3E59AB-F20F-47AC-AE57-D7859FE9C715}"/>
              </a:ext>
            </a:extLst>
          </p:cNvPr>
          <p:cNvSpPr>
            <a:spLocks noGrp="1"/>
          </p:cNvSpPr>
          <p:nvPr>
            <p:ph type="body" sz="quarter" idx="194"/>
          </p:nvPr>
        </p:nvSpPr>
        <p:spPr>
          <a:xfrm>
            <a:off x="32956500" y="15774066"/>
            <a:ext cx="10021742"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7" name="Text Placeholder 5">
            <a:extLst>
              <a:ext uri="{FF2B5EF4-FFF2-40B4-BE49-F238E27FC236}">
                <a16:creationId xmlns:a16="http://schemas.microsoft.com/office/drawing/2014/main" id="{3FCD37EB-E20C-46EF-8FE5-377116585725}"/>
              </a:ext>
            </a:extLst>
          </p:cNvPr>
          <p:cNvSpPr>
            <a:spLocks noGrp="1"/>
          </p:cNvSpPr>
          <p:nvPr>
            <p:ph type="body" sz="quarter" idx="195" hasCustomPrompt="1"/>
          </p:nvPr>
        </p:nvSpPr>
        <p:spPr>
          <a:xfrm>
            <a:off x="32955786" y="25654614"/>
            <a:ext cx="10022217" cy="646331"/>
          </a:xfrm>
          <a:prstGeom prst="rect">
            <a:avLst/>
          </a:prstGeom>
          <a:noFill/>
        </p:spPr>
        <p:txBody>
          <a:bodyPr wrap="square" lIns="91421" tIns="45720" rIns="91421" bIns="45720" anchor="ctr" anchorCtr="0">
            <a:spAutoFit/>
          </a:bodyPr>
          <a:lstStyle>
            <a:lvl1pPr marL="0" indent="0" algn="l">
              <a:buNone/>
              <a:defRPr sz="3600" b="0" u="none" cap="all" baseline="0">
                <a:solidFill>
                  <a:srgbClr val="004A8D"/>
                </a:solidFill>
                <a:latin typeface="Franklin Gothic Medium" panose="020B0603020102020204" pitchFamily="34" charset="0"/>
              </a:defRPr>
            </a:lvl1pPr>
          </a:lstStyle>
          <a:p>
            <a:pPr lvl="0"/>
            <a:r>
              <a:rPr lang="en-US" dirty="0"/>
              <a:t>(CLICK TO EDIT) acknowledgements</a:t>
            </a:r>
          </a:p>
        </p:txBody>
      </p:sp>
      <p:sp>
        <p:nvSpPr>
          <p:cNvPr id="68" name="Text Placeholder 9">
            <a:extLst>
              <a:ext uri="{FF2B5EF4-FFF2-40B4-BE49-F238E27FC236}">
                <a16:creationId xmlns:a16="http://schemas.microsoft.com/office/drawing/2014/main" id="{DF8FBFED-FDDB-4795-A4FF-DC86974B5758}"/>
              </a:ext>
            </a:extLst>
          </p:cNvPr>
          <p:cNvSpPr>
            <a:spLocks noGrp="1"/>
          </p:cNvSpPr>
          <p:nvPr>
            <p:ph type="body" sz="quarter" idx="196"/>
          </p:nvPr>
        </p:nvSpPr>
        <p:spPr>
          <a:xfrm>
            <a:off x="32956142" y="26407249"/>
            <a:ext cx="10025958" cy="2397579"/>
          </a:xfrm>
          <a:prstGeom prst="rect">
            <a:avLst/>
          </a:prstGeom>
        </p:spPr>
        <p:txBody>
          <a:bodyPr wrap="square" lIns="91440" tIns="45720" rIns="91440" bIns="0">
            <a:spAutoFit/>
          </a:bodyPr>
          <a:lstStyle>
            <a:lvl1pPr marL="0" indent="0">
              <a:buFontTx/>
              <a:buNone/>
              <a:defRPr sz="2800" b="0" spc="198" baseline="0">
                <a:latin typeface="Avenir Next LT Pro" panose="020B0504020202020204" pitchFamily="34" charset="0"/>
                <a:cs typeface="Arial" panose="020B0604020202020204" pitchFamily="34" charset="0"/>
              </a:defRPr>
            </a:lvl1pPr>
            <a:lvl2pPr marL="667227" indent="-248603">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2pPr>
            <a:lvl3pPr marL="1132999" indent="-201454">
              <a:buFont typeface="Arial" panose="020B0604020202020204" pitchFamily="34" charset="0"/>
              <a:buChar char="•"/>
              <a:defRPr sz="2800" b="0" spc="198" baseline="0">
                <a:latin typeface="Avenir Next LT Pro" panose="020B0504020202020204" pitchFamily="34" charset="0"/>
                <a:cs typeface="Arial" panose="020B0604020202020204" pitchFamily="34" charset="0"/>
              </a:defRPr>
            </a:lvl3pPr>
            <a:lvl4pPr marL="1754505" indent="-311468">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4pPr>
            <a:lvl5pPr marL="2313147" indent="-285750">
              <a:buFont typeface="Arial" panose="020B0604020202020204" pitchFamily="34" charset="0"/>
              <a:buChar char="•"/>
              <a:defRPr sz="2400" b="0" spc="198" baseline="0">
                <a:latin typeface="Avenir Next LT Pro" panose="020B05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7">
            <a:extLst>
              <a:ext uri="{FF2B5EF4-FFF2-40B4-BE49-F238E27FC236}">
                <a16:creationId xmlns:a16="http://schemas.microsoft.com/office/drawing/2014/main" id="{F3163FC8-0284-4C55-B6C9-F4768769188B}"/>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19" name="Text Placeholder 7">
            <a:extLst>
              <a:ext uri="{FF2B5EF4-FFF2-40B4-BE49-F238E27FC236}">
                <a16:creationId xmlns:a16="http://schemas.microsoft.com/office/drawing/2014/main" id="{1F560F39-722C-48E8-9629-3D7B7302468E}"/>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176154157"/>
      </p:ext>
    </p:extLst>
  </p:cSld>
  <p:clrMapOvr>
    <a:masterClrMapping/>
  </p:clrMapOvr>
  <p:extLst>
    <p:ext uri="{DCECCB84-F9BA-43D5-87BE-67443E8EF086}">
      <p15:sldGuideLst xmlns:p15="http://schemas.microsoft.com/office/powerpoint/2012/main">
        <p15:guide id="1" pos="3744" userDrawn="1">
          <p15:clr>
            <a:srgbClr val="FDE53C"/>
          </p15:clr>
        </p15:guide>
        <p15:guide id="3" pos="6888" userDrawn="1">
          <p15:clr>
            <a:srgbClr val="F26B43"/>
          </p15:clr>
        </p15:guide>
        <p15:guide id="4" pos="20760" userDrawn="1">
          <p15:clr>
            <a:srgbClr val="F26B43"/>
          </p15:clr>
        </p15:guide>
        <p15:guide id="5" pos="7296" userDrawn="1">
          <p15:clr>
            <a:srgbClr val="F26B43"/>
          </p15:clr>
        </p15:guide>
        <p15:guide id="6" pos="20352" userDrawn="1">
          <p15:clr>
            <a:srgbClr val="F26B43"/>
          </p15:clr>
        </p15:guide>
        <p15:guide id="8" orient="horz" pos="3456" userDrawn="1">
          <p15:clr>
            <a:srgbClr val="F26B43"/>
          </p15:clr>
        </p15:guide>
        <p15:guide id="10" pos="23904" userDrawn="1">
          <p15:clr>
            <a:srgbClr val="FDE53C"/>
          </p15:clr>
        </p15:guide>
        <p15:guide id="11" pos="10392" userDrawn="1">
          <p15:clr>
            <a:srgbClr val="FDE53C"/>
          </p15:clr>
        </p15:guide>
        <p15:guide id="12" pos="14040" userDrawn="1">
          <p15:clr>
            <a:srgbClr val="F26B43"/>
          </p15:clr>
        </p15:guide>
        <p15:guide id="13" pos="13608" userDrawn="1">
          <p15:clr>
            <a:srgbClr val="F26B43"/>
          </p15:clr>
        </p15:guide>
        <p15:guide id="14" pos="17208" userDrawn="1">
          <p15:clr>
            <a:srgbClr val="FDE53C"/>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Text Placeholder 7">
            <a:extLst>
              <a:ext uri="{FF2B5EF4-FFF2-40B4-BE49-F238E27FC236}">
                <a16:creationId xmlns:a16="http://schemas.microsoft.com/office/drawing/2014/main" id="{7A947B71-3CCD-4976-8DB2-CA68781F2D17}"/>
              </a:ext>
            </a:extLst>
          </p:cNvPr>
          <p:cNvSpPr>
            <a:spLocks noGrp="1"/>
          </p:cNvSpPr>
          <p:nvPr>
            <p:ph type="body" sz="quarter" idx="183" hasCustomPrompt="1"/>
          </p:nvPr>
        </p:nvSpPr>
        <p:spPr>
          <a:xfrm>
            <a:off x="957489" y="294368"/>
            <a:ext cx="31993568" cy="2317750"/>
          </a:xfrm>
          <a:prstGeom prst="rect">
            <a:avLst/>
          </a:prstGeom>
        </p:spPr>
        <p:txBody>
          <a:bodyPr>
            <a:normAutofit/>
          </a:bodyPr>
          <a:lstStyle>
            <a:lvl1pPr marL="0" indent="0">
              <a:buFontTx/>
              <a:buNone/>
              <a:defRPr sz="8000" cap="all" baseline="0">
                <a:solidFill>
                  <a:schemeClr val="bg1"/>
                </a:solidFill>
                <a:latin typeface="Franklin Gothic Medium" panose="020B0603020102020204" pitchFamily="34" charset="0"/>
              </a:defRPr>
            </a:lvl1pPr>
          </a:lstStyle>
          <a:p>
            <a:pPr lvl="0"/>
            <a:r>
              <a:rPr lang="en-US" dirty="0"/>
              <a:t>CLICK HERE TO ADD TITLE: ADJUST TEXT BOX POSITIONING IF ONLY USING ONE LINE</a:t>
            </a:r>
          </a:p>
        </p:txBody>
      </p:sp>
      <p:sp>
        <p:nvSpPr>
          <p:cNvPr id="7" name="Text Placeholder 7">
            <a:extLst>
              <a:ext uri="{FF2B5EF4-FFF2-40B4-BE49-F238E27FC236}">
                <a16:creationId xmlns:a16="http://schemas.microsoft.com/office/drawing/2014/main" id="{CCCFEA2F-681C-4325-A10A-402388EB69E3}"/>
              </a:ext>
            </a:extLst>
          </p:cNvPr>
          <p:cNvSpPr>
            <a:spLocks noGrp="1"/>
          </p:cNvSpPr>
          <p:nvPr>
            <p:ph type="body" sz="quarter" idx="184" hasCustomPrompt="1"/>
          </p:nvPr>
        </p:nvSpPr>
        <p:spPr>
          <a:xfrm>
            <a:off x="957489" y="2764791"/>
            <a:ext cx="31993568" cy="1937838"/>
          </a:xfrm>
          <a:prstGeom prst="rect">
            <a:avLst/>
          </a:prstGeom>
        </p:spPr>
        <p:txBody>
          <a:bodyPr>
            <a:normAutofit/>
          </a:bodyPr>
          <a:lstStyle>
            <a:lvl1pPr marL="0" indent="0">
              <a:buFontTx/>
              <a:buNone/>
              <a:defRPr sz="5400">
                <a:solidFill>
                  <a:srgbClr val="FEC24D"/>
                </a:solidFill>
                <a:latin typeface="Rockwell" panose="02060603020205020403" pitchFamily="18" charset="0"/>
              </a:defRPr>
            </a:lvl1pPr>
          </a:lstStyle>
          <a:p>
            <a:pPr lvl="0"/>
            <a:r>
              <a:rPr lang="en-US" dirty="0"/>
              <a:t>Click here to add Authors &amp; Affiliations: Adjust text box positioning if only using one line</a:t>
            </a:r>
          </a:p>
        </p:txBody>
      </p:sp>
    </p:spTree>
    <p:extLst>
      <p:ext uri="{BB962C8B-B14F-4D97-AF65-F5344CB8AC3E}">
        <p14:creationId xmlns:p14="http://schemas.microsoft.com/office/powerpoint/2010/main" val="399297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8.jpeg"/><Relationship Id="rId3" Type="http://schemas.openxmlformats.org/officeDocument/2006/relationships/slideLayout" Target="../slideLayouts/slideLayout3.xml"/><Relationship Id="rId7" Type="http://schemas.openxmlformats.org/officeDocument/2006/relationships/image" Target="../media/image2.svg"/><Relationship Id="rId12"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jpeg"/><Relationship Id="rId5" Type="http://schemas.openxmlformats.org/officeDocument/2006/relationships/theme" Target="../theme/theme1.xml"/><Relationship Id="rId15" Type="http://schemas.openxmlformats.org/officeDocument/2006/relationships/image" Target="../media/image10.jpeg"/><Relationship Id="rId10" Type="http://schemas.openxmlformats.org/officeDocument/2006/relationships/image" Target="../media/image5.jpeg"/><Relationship Id="rId4" Type="http://schemas.openxmlformats.org/officeDocument/2006/relationships/slideLayout" Target="../slideLayouts/slideLayout4.xml"/><Relationship Id="rId9" Type="http://schemas.openxmlformats.org/officeDocument/2006/relationships/image" Target="../media/image4.png"/><Relationship Id="rId14"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D2487A0-83C4-4D6A-BAB2-EA459FD0C8BE}"/>
              </a:ext>
            </a:extLst>
          </p:cNvPr>
          <p:cNvGrpSpPr/>
          <p:nvPr userDrawn="1"/>
        </p:nvGrpSpPr>
        <p:grpSpPr>
          <a:xfrm>
            <a:off x="0" y="32275720"/>
            <a:ext cx="43891199" cy="642680"/>
            <a:chOff x="0" y="32275720"/>
            <a:chExt cx="43891199" cy="642680"/>
          </a:xfrm>
        </p:grpSpPr>
        <p:sp>
          <p:nvSpPr>
            <p:cNvPr id="31" name="Freeform 19">
              <a:extLst>
                <a:ext uri="{FF2B5EF4-FFF2-40B4-BE49-F238E27FC236}">
                  <a16:creationId xmlns:a16="http://schemas.microsoft.com/office/drawing/2014/main" id="{45CAD17A-BE9A-4682-A071-32FD2AE50817}"/>
                </a:ext>
              </a:extLst>
            </p:cNvPr>
            <p:cNvSpPr/>
            <p:nvPr userDrawn="1"/>
          </p:nvSpPr>
          <p:spPr>
            <a:xfrm>
              <a:off x="0" y="32275720"/>
              <a:ext cx="37383168" cy="642680"/>
            </a:xfrm>
            <a:custGeom>
              <a:avLst/>
              <a:gdLst/>
              <a:ahLst/>
              <a:cxnLst/>
              <a:rect l="l" t="t" r="r" b="b"/>
              <a:pathLst>
                <a:path w="5034770" h="86556">
                  <a:moveTo>
                    <a:pt x="0" y="0"/>
                  </a:moveTo>
                  <a:lnTo>
                    <a:pt x="5034770" y="0"/>
                  </a:lnTo>
                  <a:lnTo>
                    <a:pt x="5034770" y="86556"/>
                  </a:lnTo>
                  <a:lnTo>
                    <a:pt x="0" y="86556"/>
                  </a:lnTo>
                  <a:close/>
                </a:path>
              </a:pathLst>
            </a:custGeom>
            <a:solidFill>
              <a:srgbClr val="FEC24D"/>
            </a:solidFill>
          </p:spPr>
        </p:sp>
        <p:sp>
          <p:nvSpPr>
            <p:cNvPr id="32" name="Freeform 22">
              <a:extLst>
                <a:ext uri="{FF2B5EF4-FFF2-40B4-BE49-F238E27FC236}">
                  <a16:creationId xmlns:a16="http://schemas.microsoft.com/office/drawing/2014/main" id="{7FEB0161-CAD1-47D6-BE79-2584D00E818D}"/>
                </a:ext>
              </a:extLst>
            </p:cNvPr>
            <p:cNvSpPr/>
            <p:nvPr userDrawn="1"/>
          </p:nvSpPr>
          <p:spPr>
            <a:xfrm>
              <a:off x="35949208" y="32275720"/>
              <a:ext cx="7941991" cy="642680"/>
            </a:xfrm>
            <a:custGeom>
              <a:avLst/>
              <a:gdLst/>
              <a:ahLst/>
              <a:cxnLst/>
              <a:rect l="l" t="t" r="r" b="b"/>
              <a:pathLst>
                <a:path w="1069629" h="86556">
                  <a:moveTo>
                    <a:pt x="0" y="0"/>
                  </a:moveTo>
                  <a:lnTo>
                    <a:pt x="1069629" y="0"/>
                  </a:lnTo>
                  <a:lnTo>
                    <a:pt x="1069629" y="86556"/>
                  </a:lnTo>
                  <a:lnTo>
                    <a:pt x="0" y="86556"/>
                  </a:lnTo>
                  <a:close/>
                </a:path>
              </a:pathLst>
            </a:custGeom>
            <a:solidFill>
              <a:srgbClr val="FF4613"/>
            </a:solidFill>
          </p:spPr>
        </p:sp>
      </p:grpSp>
      <p:pic>
        <p:nvPicPr>
          <p:cNvPr id="23" name="Graphic 22">
            <a:extLst>
              <a:ext uri="{FF2B5EF4-FFF2-40B4-BE49-F238E27FC236}">
                <a16:creationId xmlns:a16="http://schemas.microsoft.com/office/drawing/2014/main" id="{01C64AA7-F838-4224-9FD9-D29B90F16379}"/>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5949208" y="30662131"/>
            <a:ext cx="7053471" cy="1109812"/>
          </a:xfrm>
          <a:prstGeom prst="rect">
            <a:avLst/>
          </a:prstGeom>
        </p:spPr>
      </p:pic>
      <p:sp>
        <p:nvSpPr>
          <p:cNvPr id="35" name="Rectangle 34">
            <a:extLst>
              <a:ext uri="{FF2B5EF4-FFF2-40B4-BE49-F238E27FC236}">
                <a16:creationId xmlns:a16="http://schemas.microsoft.com/office/drawing/2014/main" id="{D1F7DBCE-93E0-487B-AB69-1BD95747772A}"/>
              </a:ext>
            </a:extLst>
          </p:cNvPr>
          <p:cNvSpPr/>
          <p:nvPr userDrawn="1"/>
        </p:nvSpPr>
        <p:spPr>
          <a:xfrm>
            <a:off x="-12068693" y="-6876"/>
            <a:ext cx="11222432" cy="32918401"/>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marL="0" marR="0" lvl="0" indent="0" algn="ctr" defTabSz="114300" rtl="0" eaLnBrk="1" fontAlgn="auto" latinLnBrk="0" hangingPunct="1">
              <a:lnSpc>
                <a:spcPct val="15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FFC000"/>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4000" b="1" i="0" u="none" strike="noStrike" kern="1200" cap="none" spc="600" normalizeH="0" baseline="0" noProof="0" dirty="0">
                <a:ln>
                  <a:noFill/>
                </a:ln>
                <a:solidFill>
                  <a:schemeClr val="bg1"/>
                </a:solidFill>
                <a:effectLst/>
                <a:uLnTx/>
                <a:uFillTx/>
                <a:latin typeface="Frutiger LT Std 55 Roman" pitchFamily="34" charset="0"/>
                <a:ea typeface="+mn-ea"/>
                <a:cs typeface="+mn-cs"/>
              </a:rPr>
              <a:t>LAYOUT &amp; DESIGN</a:t>
            </a:r>
          </a:p>
          <a:p>
            <a:pPr algn="ctr">
              <a:lnSpc>
                <a:spcPct val="150000"/>
              </a:lnSpc>
            </a:pPr>
            <a:endParaRPr lang="en-US" sz="3200" b="1" dirty="0">
              <a:solidFill>
                <a:schemeClr val="bg1"/>
              </a:solidFill>
              <a:latin typeface="Frutiger LT Std 55 Roman" pitchFamily="34" charset="0"/>
            </a:endParaRPr>
          </a:p>
          <a:p>
            <a:pPr algn="ctr" defTabSz="2743200">
              <a:lnSpc>
                <a:spcPct val="150000"/>
              </a:lnSpc>
            </a:pPr>
            <a:r>
              <a:rPr lang="en-US" sz="3600" b="1" dirty="0">
                <a:solidFill>
                  <a:schemeClr val="bg1"/>
                </a:solidFill>
                <a:latin typeface="Frutiger LT Std 55 Roman" pitchFamily="34" charset="0"/>
              </a:rPr>
              <a:t>Start</a:t>
            </a:r>
          </a:p>
          <a:p>
            <a:pPr algn="ctr" defTabSz="2743200">
              <a:lnSpc>
                <a:spcPct val="150000"/>
              </a:lnSpc>
            </a:pPr>
            <a:endParaRPr lang="en-US" sz="3200" b="1" dirty="0">
              <a:solidFill>
                <a:srgbClr val="FFFFFF"/>
              </a:solidFill>
              <a:latin typeface="Frutiger LT Std 55 Roman" pitchFamily="34" charset="0"/>
            </a:endParaRPr>
          </a:p>
          <a:p>
            <a:pPr algn="ctr" defTabSz="2743200">
              <a:lnSpc>
                <a:spcPct val="150000"/>
              </a:lnSpc>
            </a:pPr>
            <a:r>
              <a:rPr lang="en-US" sz="2600" dirty="0">
                <a:solidFill>
                  <a:schemeClr val="tx1"/>
                </a:solidFill>
                <a:latin typeface="Frutiger LT Std 45 Light" panose="020B0402020204020204" pitchFamily="34" charset="0"/>
              </a:rPr>
              <a:t>From the HOME tab, select LAYOUT to see the available layout options. After choosing your layout, begin designing your poster. This template contains helpful guidelines for each layout. Go to the VIEW tab and make sure the box next to GUIDES, in the SHOW section, is checked.</a:t>
            </a:r>
          </a:p>
          <a:p>
            <a:pPr algn="ctr">
              <a:lnSpc>
                <a:spcPct val="150000"/>
              </a:lnSpc>
            </a:pPr>
            <a:endParaRPr lang="en-US" sz="3200" b="1" baseline="0" dirty="0">
              <a:solidFill>
                <a:srgbClr val="FFC000"/>
              </a:solidFill>
              <a:latin typeface="Frutiger LT Std 55 Roman" pitchFamily="34" charset="0"/>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Title, Authors, and Affiliations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Start designing your poster by adding the title, the names of the authors, and the affiliated institutions. You can type or paste text into the provided boxes. The template will automatically adjust the size of your text to fit the title box. You can override this feature and manually change the size of your text. </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r>
              <a:rPr kumimoji="0" lang="en-US" sz="2600" b="1" i="0" u="none" strike="noStrike" kern="1200" cap="none" spc="300" normalizeH="0" baseline="0" noProof="0" dirty="0">
                <a:ln>
                  <a:noFill/>
                </a:ln>
                <a:solidFill>
                  <a:schemeClr val="tx1"/>
                </a:solidFill>
                <a:effectLst/>
                <a:uLnTx/>
                <a:uFillTx/>
                <a:latin typeface="Frutiger LT Std 45 Light" pitchFamily="34" charset="0"/>
                <a:ea typeface="+mn-ea"/>
                <a:cs typeface="+mn-cs"/>
              </a:rPr>
              <a:t>TIP</a:t>
            </a:r>
            <a:r>
              <a:rPr kumimoji="0" lang="en-US" sz="2600" b="1" i="0" u="none" strike="noStrike" kern="1200" cap="none" spc="0" normalizeH="0" baseline="0" noProof="0" dirty="0">
                <a:ln>
                  <a:noFill/>
                </a:ln>
                <a:solidFill>
                  <a:schemeClr val="tx1"/>
                </a:solidFill>
                <a:effectLst/>
                <a:uLnTx/>
                <a:uFillTx/>
                <a:latin typeface="Frutiger LT Std 45 Light" pitchFamily="34" charset="0"/>
                <a:ea typeface="+mn-ea"/>
                <a:cs typeface="+mn-cs"/>
              </a:rPr>
              <a:t>: </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font size of your title should be bigger than your name(s) and affiliation(s).</a:t>
            </a: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How to Add Text</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The template comes with a number of pre-formatted placeholder boxes for headers and body text. Additional headers and body text boxes may be added by copying and pasting the existing ones. Note that the boxes must have user-generated text in order to be copied and pasted. The default placeholder text [i.e.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add text)</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and </a:t>
            </a:r>
            <a:r>
              <a:rPr kumimoji="0" lang="en-US" sz="2600" b="0" i="1" u="none" strike="noStrike" kern="1200" cap="none" spc="0" normalizeH="0" baseline="0" noProof="0" dirty="0">
                <a:ln>
                  <a:noFill/>
                </a:ln>
                <a:solidFill>
                  <a:schemeClr val="tx1"/>
                </a:solidFill>
                <a:effectLst/>
                <a:uLnTx/>
                <a:uFillTx/>
                <a:latin typeface="Frutiger LT Std 45 Light" pitchFamily="34" charset="0"/>
                <a:ea typeface="+mn-ea"/>
                <a:cs typeface="+mn-cs"/>
              </a:rPr>
              <a:t>(Click to edit) Header</a:t>
            </a: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 does not apply.</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l" defTabSz="4388166" rtl="0" eaLnBrk="1" fontAlgn="auto" latinLnBrk="0" hangingPunct="1">
              <a:lnSpc>
                <a:spcPct val="150000"/>
              </a:lnSpc>
              <a:spcBef>
                <a:spcPts val="0"/>
              </a:spcBef>
              <a:spcAft>
                <a:spcPts val="0"/>
              </a:spcAft>
              <a:buClrTx/>
              <a:buSzTx/>
              <a:buFontTx/>
              <a:buNone/>
              <a:tabLst/>
              <a:defRPr/>
            </a:pPr>
            <a:endPar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0" indent="0" algn="ctr" defTabSz="4388166"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chemeClr val="bg1"/>
                </a:solidFill>
                <a:effectLst/>
                <a:uLnTx/>
                <a:uFillTx/>
                <a:latin typeface="Frutiger LT Std 55 Roman" pitchFamily="34" charset="0"/>
                <a:ea typeface="+mn-ea"/>
                <a:cs typeface="+mn-cs"/>
              </a:rPr>
              <a:t>Fonts</a:t>
            </a:r>
          </a:p>
          <a:p>
            <a:pPr marL="0" marR="0" lvl="0" indent="0" algn="ctr" defTabSz="4388166" rtl="0" eaLnBrk="1" fontAlgn="auto" latinLnBrk="0" hangingPunct="1">
              <a:lnSpc>
                <a:spcPct val="15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chemeClr val="tx1"/>
              </a:solidFill>
              <a:effectLst/>
              <a:uLnTx/>
              <a:uFillTx/>
              <a:latin typeface="Frutiger LT Std 55 Roman"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Title &amp; Headers: Franklin Gothic Medium ALL CAPS</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Authors &amp; Affiliations: Rockwell</a:t>
            </a:r>
          </a:p>
          <a:p>
            <a:pPr marL="0" marR="0" lvl="2" indent="0" algn="l" defTabSz="114300" rtl="0" eaLnBrk="1" fontAlgn="auto" latinLnBrk="0" hangingPunct="1">
              <a:lnSpc>
                <a:spcPct val="150000"/>
              </a:lnSpc>
              <a:spcBef>
                <a:spcPts val="0"/>
              </a:spcBef>
              <a:spcAft>
                <a:spcPts val="0"/>
              </a:spcAft>
              <a:buClrTx/>
              <a:buSzTx/>
              <a:buFontTx/>
              <a:buNone/>
              <a:tabLst/>
              <a:defRPr/>
            </a:pPr>
            <a:r>
              <a:rPr kumimoji="0" lang="en-US" sz="2600" b="0" i="0" u="none" strike="noStrike" kern="1200" cap="none" spc="0" normalizeH="0" baseline="0" noProof="0" dirty="0">
                <a:ln>
                  <a:noFill/>
                </a:ln>
                <a:solidFill>
                  <a:schemeClr val="tx1"/>
                </a:solidFill>
                <a:effectLst/>
                <a:uLnTx/>
                <a:uFillTx/>
                <a:latin typeface="Frutiger LT Std 45 Light" pitchFamily="34" charset="0"/>
                <a:ea typeface="+mn-ea"/>
                <a:cs typeface="+mn-cs"/>
              </a:rPr>
              <a:t>Body Text: Avenir Next LT Pro</a:t>
            </a:r>
            <a:endParaRPr kumimoji="0" lang="en-US" sz="2400" b="0" i="0" u="none" strike="noStrike" kern="1200" cap="none" spc="0" normalizeH="0" baseline="0" noProof="0" dirty="0">
              <a:ln>
                <a:noFill/>
              </a:ln>
              <a:solidFill>
                <a:schemeClr val="tx1"/>
              </a:solidFill>
              <a:effectLst/>
              <a:uLnTx/>
              <a:uFillTx/>
              <a:latin typeface="Frutiger LT Std 45 Light" pitchFamily="34" charset="0"/>
              <a:ea typeface="+mn-ea"/>
              <a:cs typeface="+mn-cs"/>
            </a:endParaRPr>
          </a:p>
          <a:p>
            <a:pPr marL="0" marR="0" lvl="2" indent="0" algn="l" defTabSz="114300" rtl="0" eaLnBrk="1" fontAlgn="auto" latinLnBrk="0" hangingPunct="1">
              <a:lnSpc>
                <a:spcPct val="150000"/>
              </a:lnSpc>
              <a:spcBef>
                <a:spcPts val="0"/>
              </a:spcBef>
              <a:spcAft>
                <a:spcPts val="0"/>
              </a:spcAft>
              <a:buClrTx/>
              <a:buSzTx/>
              <a:buFontTx/>
              <a:buNone/>
              <a:tabLst/>
              <a:defRPr/>
            </a:pPr>
            <a:endParaRPr lang="en-US" sz="3600" b="1" baseline="0" dirty="0">
              <a:solidFill>
                <a:schemeClr val="tx1"/>
              </a:solidFill>
              <a:latin typeface="Frutiger LT Std 55 Roman" pitchFamily="34" charset="0"/>
            </a:endParaRPr>
          </a:p>
          <a:p>
            <a:pPr algn="ctr">
              <a:lnSpc>
                <a:spcPct val="150000"/>
              </a:lnSpc>
            </a:pPr>
            <a:r>
              <a:rPr lang="en-US" sz="3600" b="1" baseline="0" dirty="0">
                <a:solidFill>
                  <a:schemeClr val="bg1"/>
                </a:solidFill>
                <a:latin typeface="Frutiger LT Std 55 Roman" pitchFamily="34" charset="0"/>
              </a:rPr>
              <a:t>Zooming in &amp; Out</a:t>
            </a:r>
          </a:p>
          <a:p>
            <a:pPr algn="ctr">
              <a:lnSpc>
                <a:spcPct val="150000"/>
              </a:lnSpc>
            </a:pPr>
            <a:endParaRPr lang="en-US" sz="3200" b="1" baseline="0" dirty="0">
              <a:solidFill>
                <a:schemeClr val="tx1"/>
              </a:solidFill>
              <a:latin typeface="Frutiger LT Std 55 Roman" pitchFamily="34" charset="0"/>
            </a:endParaRPr>
          </a:p>
          <a:p>
            <a:pPr algn="l" defTabSz="850900">
              <a:lnSpc>
                <a:spcPct val="150000"/>
              </a:lnSpc>
            </a:pPr>
            <a:r>
              <a:rPr lang="en-US" sz="2600" b="0" baseline="0" dirty="0">
                <a:solidFill>
                  <a:schemeClr val="tx1"/>
                </a:solidFill>
                <a:latin typeface="Frutiger LT Std 45 Light" pitchFamily="34" charset="0"/>
              </a:rPr>
              <a:t>As you work on your poster zoom in and out to the level that is more</a:t>
            </a:r>
            <a:r>
              <a:rPr lang="en-US" sz="2600" b="0" dirty="0">
                <a:solidFill>
                  <a:schemeClr val="tx1"/>
                </a:solidFill>
                <a:latin typeface="Frutiger LT Std 45 Light" pitchFamily="34" charset="0"/>
              </a:rPr>
              <a:t> </a:t>
            </a:r>
            <a:r>
              <a:rPr lang="en-US" sz="2600" b="0" baseline="0" dirty="0">
                <a:solidFill>
                  <a:schemeClr val="tx1"/>
                </a:solidFill>
                <a:latin typeface="Frutiger LT Std 45 Light" pitchFamily="34" charset="0"/>
              </a:rPr>
              <a:t>comfortable </a:t>
            </a:r>
            <a:r>
              <a:rPr lang="en-US" sz="2600" dirty="0">
                <a:solidFill>
                  <a:schemeClr val="tx1"/>
                </a:solidFill>
                <a:latin typeface="Frutiger LT Std 45 Light" pitchFamily="34" charset="0"/>
              </a:rPr>
              <a:t>for</a:t>
            </a:r>
            <a:r>
              <a:rPr lang="en-US" sz="2600" b="0" baseline="0" dirty="0">
                <a:solidFill>
                  <a:schemeClr val="tx1"/>
                </a:solidFill>
                <a:latin typeface="Frutiger LT Std 45 Light" pitchFamily="34" charset="0"/>
              </a:rPr>
              <a:t> you. Go to VIEW &gt; ZOOM,</a:t>
            </a:r>
            <a:r>
              <a:rPr lang="en-US" sz="2600" b="0" dirty="0">
                <a:solidFill>
                  <a:schemeClr val="tx1"/>
                </a:solidFill>
                <a:latin typeface="Frutiger LT Std 45 Light" pitchFamily="34" charset="0"/>
              </a:rPr>
              <a:t> or use the zoom slider in the bottom right corner.</a:t>
            </a:r>
          </a:p>
          <a:p>
            <a:pPr algn="l" defTabSz="850900">
              <a:lnSpc>
                <a:spcPct val="150000"/>
              </a:lnSpc>
            </a:pPr>
            <a:endParaRPr lang="en-US" sz="6000" dirty="0">
              <a:solidFill>
                <a:schemeClr val="tx1"/>
              </a:solidFill>
            </a:endParaRPr>
          </a:p>
          <a:p>
            <a:pPr lvl="0" defTabSz="114300">
              <a:lnSpc>
                <a:spcPct val="150000"/>
              </a:lnSpc>
              <a:defRPr/>
            </a:pPr>
            <a:endParaRPr lang="en-US" sz="24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9" name="Group 8">
            <a:extLst>
              <a:ext uri="{FF2B5EF4-FFF2-40B4-BE49-F238E27FC236}">
                <a16:creationId xmlns:a16="http://schemas.microsoft.com/office/drawing/2014/main" id="{4C54AF0B-D510-48F0-B601-E5BBF4F224E6}"/>
              </a:ext>
            </a:extLst>
          </p:cNvPr>
          <p:cNvGrpSpPr/>
          <p:nvPr userDrawn="1"/>
        </p:nvGrpSpPr>
        <p:grpSpPr>
          <a:xfrm>
            <a:off x="44672455" y="-55065"/>
            <a:ext cx="11062139" cy="32973465"/>
            <a:chOff x="44678772" y="-55065"/>
            <a:chExt cx="11062139" cy="32973465"/>
          </a:xfrm>
        </p:grpSpPr>
        <p:sp>
          <p:nvSpPr>
            <p:cNvPr id="10" name="Rectangle 9">
              <a:extLst>
                <a:ext uri="{FF2B5EF4-FFF2-40B4-BE49-F238E27FC236}">
                  <a16:creationId xmlns:a16="http://schemas.microsoft.com/office/drawing/2014/main" id="{B205B2FA-EB84-4934-BB17-A91CB9D265B3}"/>
                </a:ext>
              </a:extLst>
            </p:cNvPr>
            <p:cNvSpPr/>
            <p:nvPr userDrawn="1"/>
          </p:nvSpPr>
          <p:spPr>
            <a:xfrm>
              <a:off x="44678772" y="-55065"/>
              <a:ext cx="11062139" cy="32973465"/>
            </a:xfrm>
            <a:prstGeom prst="rect">
              <a:avLst/>
            </a:prstGeom>
            <a:solidFill>
              <a:srgbClr val="A1C5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57200" tIns="457200" rIns="457200" bIns="0" rtlCol="0" anchor="t" anchorCtr="0"/>
            <a:lstStyle/>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a:p>
              <a:pPr algn="ctr">
                <a:lnSpc>
                  <a:spcPct val="150000"/>
                </a:lnSpc>
              </a:pPr>
              <a:endParaRPr lang="en-US" sz="2400" b="1" spc="600" dirty="0">
                <a:solidFill>
                  <a:schemeClr val="tx1"/>
                </a:solidFill>
                <a:latin typeface="Frutiger LT Std 55 Roman" pitchFamily="34" charset="0"/>
              </a:endParaRPr>
            </a:p>
            <a:p>
              <a:pPr algn="ctr">
                <a:lnSpc>
                  <a:spcPct val="150000"/>
                </a:lnSpc>
              </a:pPr>
              <a:r>
                <a:rPr lang="en-US" sz="4000" b="1" spc="600" dirty="0">
                  <a:solidFill>
                    <a:schemeClr val="bg1"/>
                  </a:solidFill>
                  <a:latin typeface="Frutiger LT Std 55 Roman" pitchFamily="34" charset="0"/>
                </a:rPr>
                <a:t>TABLES &amp; GRAPHICS</a:t>
              </a:r>
            </a:p>
            <a:p>
              <a:pPr marL="0" indent="0" algn="l" defTabSz="114300">
                <a:lnSpc>
                  <a:spcPct val="150000"/>
                </a:lnSpc>
              </a:pPr>
              <a:endParaRPr lang="en-US" sz="2400" b="0" baseline="0" dirty="0">
                <a:solidFill>
                  <a:schemeClr val="bg1"/>
                </a:solidFill>
                <a:latin typeface="Trebuchet MS" pitchFamily="34" charset="0"/>
              </a:endParaRPr>
            </a:p>
            <a:p>
              <a:pPr algn="ctr">
                <a:lnSpc>
                  <a:spcPct val="150000"/>
                </a:lnSpc>
              </a:pPr>
              <a:r>
                <a:rPr lang="en-US" sz="3600" b="1" baseline="0" dirty="0">
                  <a:solidFill>
                    <a:schemeClr val="bg1"/>
                  </a:solidFill>
                  <a:latin typeface="Frutiger LT Std 55 Roman" pitchFamily="34" charset="0"/>
                </a:rPr>
                <a:t>How to Add Tables</a:t>
              </a:r>
            </a:p>
            <a:p>
              <a:pPr algn="ctr">
                <a:lnSpc>
                  <a:spcPct val="150000"/>
                </a:lnSpc>
              </a:pPr>
              <a:endParaRPr lang="en-US" sz="3600" b="1" baseline="0" dirty="0">
                <a:solidFill>
                  <a:schemeClr val="tx1"/>
                </a:solidFill>
                <a:latin typeface="Frutiger LT Std 55 Roman" pitchFamily="34" charset="0"/>
              </a:endParaRPr>
            </a:p>
            <a:p>
              <a:pPr marL="0" lvl="1" indent="0" defTabSz="114300">
                <a:lnSpc>
                  <a:spcPct val="150000"/>
                </a:lnSpc>
              </a:pPr>
              <a:r>
                <a:rPr lang="en-US" sz="2600" b="0" baseline="0" dirty="0">
                  <a:solidFill>
                    <a:schemeClr val="tx1"/>
                  </a:solidFill>
                  <a:latin typeface="Frutiger LT Std 45 Light" pitchFamily="34" charset="0"/>
                </a:rPr>
                <a:t>To add a table go to the INSERT menu and click on TABLE. A drop-down box will help you select rows and columns</a:t>
              </a:r>
              <a:r>
                <a:rPr lang="en-US" sz="2600" dirty="0">
                  <a:solidFill>
                    <a:schemeClr val="tx1"/>
                  </a:solidFill>
                  <a:latin typeface="Frutiger LT Std 45 Light" pitchFamily="34" charset="0"/>
                </a:rPr>
                <a:t>.</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 You can also copy and a paste a table from Word or another PowerPoint document. A pasted table may need to be re-formatted using the DESIGN and LAYOUT tabs that will appear when the table is selected.</a:t>
              </a:r>
            </a:p>
            <a:p>
              <a:pPr marL="1730375" lvl="1" defTabSz="114300">
                <a:lnSpc>
                  <a:spcPct val="150000"/>
                </a:lnSpc>
              </a:pPr>
              <a:endParaRPr lang="en-US" sz="2600" dirty="0">
                <a:solidFill>
                  <a:schemeClr val="tx1"/>
                </a:solidFill>
                <a:latin typeface="Frutiger LT Std 45 Light" pitchFamily="34" charset="0"/>
              </a:endParaRPr>
            </a:p>
            <a:p>
              <a:pPr marL="0" lvl="1" indent="0" defTabSz="114300">
                <a:lnSpc>
                  <a:spcPct val="150000"/>
                </a:lnSpc>
                <a:tabLst/>
              </a:pPr>
              <a:r>
                <a:rPr lang="en-US" sz="2600" dirty="0">
                  <a:solidFill>
                    <a:schemeClr val="tx1"/>
                  </a:solidFill>
                  <a:latin typeface="Frutiger LT Std 45 Light" pitchFamily="34" charset="0"/>
                </a:rPr>
                <a:t>You can simply copy and paste charts and graphs</a:t>
              </a:r>
            </a:p>
            <a:p>
              <a:pPr marL="0" lvl="1" indent="0" defTabSz="114300">
                <a:lnSpc>
                  <a:spcPct val="150000"/>
                </a:lnSpc>
                <a:tabLst/>
              </a:pPr>
              <a:r>
                <a:rPr lang="en-US" sz="2600" dirty="0">
                  <a:solidFill>
                    <a:schemeClr val="tx1"/>
                  </a:solidFill>
                  <a:latin typeface="Frutiger LT Std 45 Light" pitchFamily="34" charset="0"/>
                </a:rPr>
                <a:t>from Excel or Word. Some reformatting may be</a:t>
              </a:r>
            </a:p>
            <a:p>
              <a:pPr marL="0" lvl="1" indent="0" defTabSz="114300">
                <a:lnSpc>
                  <a:spcPct val="150000"/>
                </a:lnSpc>
                <a:tabLst/>
              </a:pPr>
              <a:r>
                <a:rPr lang="en-US" sz="2600" dirty="0">
                  <a:solidFill>
                    <a:schemeClr val="tx1"/>
                  </a:solidFill>
                  <a:latin typeface="Frutiger LT Std 45 Light" pitchFamily="34" charset="0"/>
                </a:rPr>
                <a:t>required depending on how the original document</a:t>
              </a:r>
            </a:p>
            <a:p>
              <a:pPr marL="0" lvl="1" indent="0" defTabSz="114300">
                <a:lnSpc>
                  <a:spcPct val="150000"/>
                </a:lnSpc>
                <a:tabLst/>
              </a:pPr>
              <a:r>
                <a:rPr lang="en-US" sz="2600" dirty="0">
                  <a:solidFill>
                    <a:schemeClr val="tx1"/>
                  </a:solidFill>
                  <a:latin typeface="Frutiger LT Std 45 Light" pitchFamily="34" charset="0"/>
                </a:rPr>
                <a:t>has been created.</a:t>
              </a:r>
            </a:p>
            <a:p>
              <a:pPr marL="0" marR="0" lvl="0" indent="0" algn="l" defTabSz="114300" rtl="0" eaLnBrk="1" fontAlgn="auto" latinLnBrk="0" hangingPunct="1">
                <a:lnSpc>
                  <a:spcPct val="150000"/>
                </a:lnSpc>
                <a:spcBef>
                  <a:spcPts val="0"/>
                </a:spcBef>
                <a:spcAft>
                  <a:spcPts val="0"/>
                </a:spcAft>
                <a:buClrTx/>
                <a:buSzTx/>
                <a:buFontTx/>
                <a:buNone/>
                <a:tabLst/>
                <a:defRPr/>
              </a:pPr>
              <a:endParaRPr kumimoji="0" lang="en-US" sz="3600" b="0" i="0" u="none" strike="noStrike" kern="1200" cap="none" spc="0" normalizeH="0" baseline="0" noProof="0" dirty="0">
                <a:ln>
                  <a:noFill/>
                </a:ln>
                <a:solidFill>
                  <a:schemeClr val="tx1"/>
                </a:solidFill>
                <a:effectLst/>
                <a:uLnTx/>
                <a:uFillTx/>
                <a:latin typeface="Frutiger LT Std 45 Light" pitchFamily="34" charset="0"/>
              </a:endParaRPr>
            </a:p>
            <a:p>
              <a:pPr algn="ctr">
                <a:lnSpc>
                  <a:spcPct val="150000"/>
                </a:lnSpc>
              </a:pPr>
              <a:r>
                <a:rPr lang="en-US" sz="3600" b="1" dirty="0">
                  <a:solidFill>
                    <a:schemeClr val="bg1"/>
                  </a:solidFill>
                  <a:latin typeface="Frutiger LT Std 55 Roman" pitchFamily="34" charset="0"/>
                </a:rPr>
                <a:t>Photos &amp; Graphics</a:t>
              </a:r>
            </a:p>
            <a:p>
              <a:pPr algn="ctr">
                <a:lnSpc>
                  <a:spcPct val="150000"/>
                </a:lnSpc>
              </a:pPr>
              <a:endParaRPr lang="en-US" sz="3600" b="1" dirty="0">
                <a:solidFill>
                  <a:schemeClr val="tx1"/>
                </a:solidFill>
                <a:latin typeface="Frutiger LT Std 55 Roman" pitchFamily="34" charset="0"/>
              </a:endParaRPr>
            </a:p>
            <a:p>
              <a:pPr defTabSz="977900">
                <a:lnSpc>
                  <a:spcPct val="150000"/>
                </a:lnSpc>
              </a:pPr>
              <a:r>
                <a:rPr lang="en-US" sz="2600" dirty="0">
                  <a:solidFill>
                    <a:schemeClr val="tx1"/>
                  </a:solidFill>
                  <a:latin typeface="Frutiger LT Std 45 Light" pitchFamily="34" charset="0"/>
                </a:rPr>
                <a:t>You can add images by dragging and dropping them from your desktop, copy and paste, or by going to INSERT &gt; PICTURES. Resize images proportionally by holding down the SHIFT key and dragging one of the corner handles. For a professional-looking poster, avoid distorting your images by enlarging them disproportionally.</a:t>
              </a:r>
            </a:p>
            <a:p>
              <a:pPr defTabSz="977900">
                <a:lnSpc>
                  <a:spcPct val="150000"/>
                </a:lnSpc>
              </a:pPr>
              <a:endParaRPr lang="en-US" sz="2600"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2800" b="1" dirty="0">
                <a:solidFill>
                  <a:schemeClr val="tx1"/>
                </a:solidFill>
                <a:latin typeface="Trebuchet MS" pitchFamily="34" charset="0"/>
              </a:endParaRPr>
            </a:p>
            <a:p>
              <a:pPr algn="ctr">
                <a:lnSpc>
                  <a:spcPct val="150000"/>
                </a:lnSpc>
              </a:pPr>
              <a:endParaRPr lang="en-US" sz="3600" b="1" dirty="0">
                <a:solidFill>
                  <a:schemeClr val="tx1"/>
                </a:solidFill>
                <a:latin typeface="Frutiger LT Std 55 Roman" pitchFamily="34" charset="0"/>
              </a:endParaRPr>
            </a:p>
            <a:p>
              <a:pPr algn="ctr">
                <a:lnSpc>
                  <a:spcPct val="150000"/>
                </a:lnSpc>
              </a:pPr>
              <a:r>
                <a:rPr lang="en-US" sz="3600" b="1" dirty="0">
                  <a:solidFill>
                    <a:schemeClr val="bg1"/>
                  </a:solidFill>
                  <a:latin typeface="Frutiger LT Std 55 Roman" pitchFamily="34" charset="0"/>
                </a:rPr>
                <a:t>Image Quality Check</a:t>
              </a:r>
            </a:p>
            <a:p>
              <a:pPr algn="ctr">
                <a:lnSpc>
                  <a:spcPct val="150000"/>
                </a:lnSpc>
              </a:pPr>
              <a:endParaRPr lang="en-US" sz="3600" b="1" dirty="0">
                <a:solidFill>
                  <a:schemeClr val="tx1"/>
                </a:solidFill>
                <a:latin typeface="Frutiger LT Std 55 Roman" pitchFamily="34" charset="0"/>
              </a:endParaRPr>
            </a:p>
            <a:p>
              <a:pPr lvl="0" defTabSz="977900">
                <a:lnSpc>
                  <a:spcPct val="150000"/>
                </a:lnSpc>
              </a:pPr>
              <a:r>
                <a:rPr lang="en-US" sz="2600" dirty="0">
                  <a:solidFill>
                    <a:schemeClr val="tx1"/>
                  </a:solidFill>
                  <a:latin typeface="Frutiger LT Std 45 Light" pitchFamily="34" charset="0"/>
                </a:rPr>
                <a:t>Zoom in and look at your images at 100% magnification. If they look good they will print well. </a:t>
              </a: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lvl="0" defTabSz="977900">
                <a:lnSpc>
                  <a:spcPct val="150000"/>
                </a:lnSpc>
              </a:pPr>
              <a:endParaRPr lang="en-US" sz="2600" dirty="0">
                <a:solidFill>
                  <a:schemeClr val="tx1"/>
                </a:solidFill>
                <a:latin typeface="Frutiger LT Std 45 Light" pitchFamily="34" charset="0"/>
              </a:endParaRPr>
            </a:p>
            <a:p>
              <a:pPr marL="0" marR="0" lvl="0" indent="0" algn="ctr" defTabSz="977900" rtl="0" eaLnBrk="1" fontAlgn="auto" latinLnBrk="0" hangingPunct="1">
                <a:lnSpc>
                  <a:spcPct val="15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3764"/>
                  </a:solidFill>
                  <a:effectLst/>
                  <a:uLnTx/>
                  <a:uFillTx/>
                  <a:latin typeface="Frutiger LT Std 45 Light" pitchFamily="34" charset="0"/>
                  <a:ea typeface="+mn-ea"/>
                  <a:cs typeface="+mn-cs"/>
                </a:rPr>
                <a:t>THESE INSTRUCTIONS WILL NOT PRINT</a:t>
              </a:r>
            </a:p>
          </p:txBody>
        </p:sp>
        <p:grpSp>
          <p:nvGrpSpPr>
            <p:cNvPr id="11" name="Group 10">
              <a:extLst>
                <a:ext uri="{FF2B5EF4-FFF2-40B4-BE49-F238E27FC236}">
                  <a16:creationId xmlns:a16="http://schemas.microsoft.com/office/drawing/2014/main" id="{49FD4358-B09C-4C47-98B0-8505F5EF69E2}"/>
                </a:ext>
              </a:extLst>
            </p:cNvPr>
            <p:cNvGrpSpPr/>
            <p:nvPr userDrawn="1"/>
          </p:nvGrpSpPr>
          <p:grpSpPr>
            <a:xfrm>
              <a:off x="53157329" y="8796801"/>
              <a:ext cx="1528780" cy="2829214"/>
              <a:chOff x="52377739" y="8494656"/>
              <a:chExt cx="1528780" cy="2829214"/>
            </a:xfrm>
          </p:grpSpPr>
          <p:pic>
            <p:nvPicPr>
              <p:cNvPr id="22" name="Picture 21">
                <a:extLst>
                  <a:ext uri="{FF2B5EF4-FFF2-40B4-BE49-F238E27FC236}">
                    <a16:creationId xmlns:a16="http://schemas.microsoft.com/office/drawing/2014/main" id="{DDBC4958-DF4D-44E3-AB30-837300FDC928}"/>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2377741" y="9430358"/>
                <a:ext cx="1528778" cy="1893512"/>
              </a:xfrm>
              <a:prstGeom prst="rect">
                <a:avLst/>
              </a:prstGeom>
            </p:spPr>
          </p:pic>
          <p:pic>
            <p:nvPicPr>
              <p:cNvPr id="24" name="Picture 23">
                <a:extLst>
                  <a:ext uri="{FF2B5EF4-FFF2-40B4-BE49-F238E27FC236}">
                    <a16:creationId xmlns:a16="http://schemas.microsoft.com/office/drawing/2014/main" id="{DC252615-3942-4396-977F-5F47472006DE}"/>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52377739" y="8494656"/>
                <a:ext cx="637363" cy="935702"/>
              </a:xfrm>
              <a:prstGeom prst="rect">
                <a:avLst/>
              </a:prstGeom>
            </p:spPr>
          </p:pic>
        </p:grpSp>
        <p:sp>
          <p:nvSpPr>
            <p:cNvPr id="12" name="TextBox 11">
              <a:extLst>
                <a:ext uri="{FF2B5EF4-FFF2-40B4-BE49-F238E27FC236}">
                  <a16:creationId xmlns:a16="http://schemas.microsoft.com/office/drawing/2014/main" id="{60ADEB9A-D9B8-44B4-960C-88B8F9E80B7A}"/>
                </a:ext>
              </a:extLst>
            </p:cNvPr>
            <p:cNvSpPr txBox="1"/>
            <p:nvPr userDrawn="1"/>
          </p:nvSpPr>
          <p:spPr>
            <a:xfrm>
              <a:off x="46009557" y="19034520"/>
              <a:ext cx="2247311" cy="707886"/>
            </a:xfrm>
            <a:prstGeom prst="rect">
              <a:avLst/>
            </a:prstGeom>
            <a:noFill/>
          </p:spPr>
          <p:txBody>
            <a:bodyPr wrap="square" lIns="457200" tIns="457200" rIns="457200" bIns="0" rtlCol="0">
              <a:spAutoFit/>
            </a:bodyPr>
            <a:lstStyle/>
            <a:p>
              <a:pPr algn="ctr"/>
              <a:r>
                <a:rPr lang="en-US" sz="1600" dirty="0">
                  <a:solidFill>
                    <a:schemeClr val="bg1"/>
                  </a:solidFill>
                  <a:latin typeface="Frutiger LT Std 45 Light" pitchFamily="34" charset="0"/>
                </a:rPr>
                <a:t>Corner</a:t>
              </a:r>
              <a:r>
                <a:rPr lang="en-US" sz="1600" baseline="0" dirty="0">
                  <a:solidFill>
                    <a:schemeClr val="bg1"/>
                  </a:solidFill>
                  <a:latin typeface="Frutiger LT Std 45 Light" pitchFamily="34" charset="0"/>
                </a:rPr>
                <a:t> handles</a:t>
              </a:r>
              <a:endParaRPr lang="en-US" sz="1600" dirty="0">
                <a:solidFill>
                  <a:schemeClr val="bg1"/>
                </a:solidFill>
                <a:latin typeface="Frutiger LT Std 45 Light" pitchFamily="34" charset="0"/>
              </a:endParaRPr>
            </a:p>
          </p:txBody>
        </p:sp>
        <p:pic>
          <p:nvPicPr>
            <p:cNvPr id="13" name="Picture 7" descr="X:\Graphics\Powerpoint templates project\arnie.jpg">
              <a:extLst>
                <a:ext uri="{FF2B5EF4-FFF2-40B4-BE49-F238E27FC236}">
                  <a16:creationId xmlns:a16="http://schemas.microsoft.com/office/drawing/2014/main" id="{0599881D-A38D-44AD-B854-444978814008}"/>
                </a:ext>
              </a:extLst>
            </p:cNvPr>
            <p:cNvPicPr>
              <a:picLocks noChangeAspect="1"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49549656" y="17810062"/>
              <a:ext cx="1380556" cy="207083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7" descr="X:\Graphics\Powerpoint templates project\arnie.jpg">
              <a:extLst>
                <a:ext uri="{FF2B5EF4-FFF2-40B4-BE49-F238E27FC236}">
                  <a16:creationId xmlns:a16="http://schemas.microsoft.com/office/drawing/2014/main" id="{99F07BE8-6C3F-49D1-B4E7-001D702D12AA}"/>
                </a:ext>
              </a:extLst>
            </p:cNvPr>
            <p:cNvPicPr>
              <a:picLocks noChangeAspect="1" noChangeArrowheads="1"/>
            </p:cNvPicPr>
            <p:nvPr userDrawn="1"/>
          </p:nvPicPr>
          <p:blipFill>
            <a:blip r:embed="rId11" cstate="print">
              <a:extLst>
                <a:ext uri="{28A0092B-C50C-407E-A947-70E740481C1C}">
                  <a14:useLocalDpi xmlns:a14="http://schemas.microsoft.com/office/drawing/2010/main" val="0"/>
                </a:ext>
              </a:extLst>
            </a:blip>
            <a:srcRect/>
            <a:stretch>
              <a:fillRect/>
            </a:stretch>
          </p:blipFill>
          <p:spPr bwMode="auto">
            <a:xfrm>
              <a:off x="51064136" y="17807531"/>
              <a:ext cx="3211358" cy="2233981"/>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939D968-7A2B-41E6-B0DA-064F43FE3135}"/>
                </a:ext>
              </a:extLst>
            </p:cNvPr>
            <p:cNvSpPr txBox="1"/>
            <p:nvPr userDrawn="1"/>
          </p:nvSpPr>
          <p:spPr>
            <a:xfrm>
              <a:off x="51064136" y="19764729"/>
              <a:ext cx="3207021" cy="400100"/>
            </a:xfrm>
            <a:prstGeom prst="rect">
              <a:avLst/>
            </a:prstGeom>
            <a:solidFill>
              <a:srgbClr val="C00000"/>
            </a:solidFill>
          </p:spPr>
          <p:txBody>
            <a:bodyPr wrap="square" lIns="457200" tIns="91440" rIns="457200" bIns="91440" rtlCol="0">
              <a:spAutoFit/>
            </a:bodyPr>
            <a:lstStyle/>
            <a:p>
              <a:pPr algn="ctr"/>
              <a:r>
                <a:rPr lang="en-US" sz="1400" b="1" dirty="0">
                  <a:solidFill>
                    <a:schemeClr val="bg1"/>
                  </a:solidFill>
                  <a:latin typeface="Frutiger LT Std 55 Roman" pitchFamily="34" charset="0"/>
                </a:rPr>
                <a:t>DISTORTED</a:t>
              </a:r>
              <a:endParaRPr lang="en-US" sz="700" b="1" dirty="0">
                <a:solidFill>
                  <a:schemeClr val="bg1"/>
                </a:solidFill>
                <a:latin typeface="Frutiger LT Std 55 Roman" pitchFamily="34" charset="0"/>
              </a:endParaRPr>
            </a:p>
          </p:txBody>
        </p:sp>
        <p:sp>
          <p:nvSpPr>
            <p:cNvPr id="16" name="TextBox 15">
              <a:extLst>
                <a:ext uri="{FF2B5EF4-FFF2-40B4-BE49-F238E27FC236}">
                  <a16:creationId xmlns:a16="http://schemas.microsoft.com/office/drawing/2014/main" id="{0FA94967-9F00-4986-AE83-F54559C75182}"/>
                </a:ext>
              </a:extLst>
            </p:cNvPr>
            <p:cNvSpPr txBox="1"/>
            <p:nvPr userDrawn="1"/>
          </p:nvSpPr>
          <p:spPr>
            <a:xfrm>
              <a:off x="49549657" y="19738603"/>
              <a:ext cx="1380096" cy="430887"/>
            </a:xfrm>
            <a:prstGeom prst="rect">
              <a:avLst/>
            </a:prstGeom>
            <a:solidFill>
              <a:srgbClr val="FFC000"/>
            </a:solidFill>
            <a:ln>
              <a:noFill/>
            </a:ln>
          </p:spPr>
          <p:txBody>
            <a:bodyPr wrap="square" lIns="91440" tIns="91440" rIns="91440" bIns="91440" rtlCol="0">
              <a:spAutoFit/>
            </a:bodyPr>
            <a:lstStyle/>
            <a:p>
              <a:pPr algn="ctr"/>
              <a:r>
                <a:rPr lang="en-US" sz="1600" b="1" dirty="0">
                  <a:solidFill>
                    <a:schemeClr val="tx1"/>
                  </a:solidFill>
                  <a:latin typeface="Frutiger LT Std 55 Roman" pitchFamily="34" charset="0"/>
                </a:rPr>
                <a:t>ORIGINAL</a:t>
              </a:r>
            </a:p>
          </p:txBody>
        </p:sp>
        <p:pic>
          <p:nvPicPr>
            <p:cNvPr id="17" name="Picture 16">
              <a:extLst>
                <a:ext uri="{FF2B5EF4-FFF2-40B4-BE49-F238E27FC236}">
                  <a16:creationId xmlns:a16="http://schemas.microsoft.com/office/drawing/2014/main" id="{FB73B2A1-C78A-4118-9267-68A988A79A2D}"/>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45789999" y="18499696"/>
              <a:ext cx="2686425" cy="838317"/>
            </a:xfrm>
            <a:prstGeom prst="rect">
              <a:avLst/>
            </a:prstGeom>
          </p:spPr>
        </p:pic>
        <p:sp>
          <p:nvSpPr>
            <p:cNvPr id="18" name="TextBox 17">
              <a:extLst>
                <a:ext uri="{FF2B5EF4-FFF2-40B4-BE49-F238E27FC236}">
                  <a16:creationId xmlns:a16="http://schemas.microsoft.com/office/drawing/2014/main" id="{61C5AE83-EE95-4169-AD42-35674FF83C8E}"/>
                </a:ext>
              </a:extLst>
            </p:cNvPr>
            <p:cNvSpPr txBox="1"/>
            <p:nvPr userDrawn="1"/>
          </p:nvSpPr>
          <p:spPr>
            <a:xfrm rot="16200000">
              <a:off x="44404465" y="25681216"/>
              <a:ext cx="2432515" cy="338553"/>
            </a:xfrm>
            <a:prstGeom prst="rect">
              <a:avLst/>
            </a:prstGeom>
            <a:noFill/>
          </p:spPr>
          <p:txBody>
            <a:bodyPr wrap="square" lIns="91440" tIns="91440" rIns="91440" bIns="0" rtlCol="0">
              <a:spAutoFit/>
            </a:bodyPr>
            <a:lstStyle/>
            <a:p>
              <a:pPr algn="ctr"/>
              <a:r>
                <a:rPr lang="en-US" sz="1600" b="1" dirty="0">
                  <a:solidFill>
                    <a:srgbClr val="003764"/>
                  </a:solidFill>
                  <a:latin typeface="Frutiger LT Std 45 Light" pitchFamily="34" charset="0"/>
                </a:rPr>
                <a:t>Good</a:t>
              </a:r>
              <a:r>
                <a:rPr lang="en-US" sz="1600" b="1" baseline="0" dirty="0">
                  <a:solidFill>
                    <a:srgbClr val="003764"/>
                  </a:solidFill>
                  <a:latin typeface="Frutiger LT Std 45 Light" pitchFamily="34" charset="0"/>
                </a:rPr>
                <a:t> </a:t>
              </a:r>
              <a:r>
                <a:rPr lang="en-US" sz="1600" baseline="0" dirty="0">
                  <a:solidFill>
                    <a:schemeClr val="bg1"/>
                  </a:solidFill>
                  <a:latin typeface="Frutiger LT Std 45 Light" pitchFamily="34" charset="0"/>
                </a:rPr>
                <a:t>printing quality</a:t>
              </a:r>
              <a:endParaRPr lang="en-US" sz="1600" dirty="0">
                <a:solidFill>
                  <a:schemeClr val="bg1"/>
                </a:solidFill>
                <a:latin typeface="Frutiger LT Std 45 Light" pitchFamily="34" charset="0"/>
              </a:endParaRPr>
            </a:p>
          </p:txBody>
        </p:sp>
        <p:sp>
          <p:nvSpPr>
            <p:cNvPr id="19" name="TextBox 18">
              <a:extLst>
                <a:ext uri="{FF2B5EF4-FFF2-40B4-BE49-F238E27FC236}">
                  <a16:creationId xmlns:a16="http://schemas.microsoft.com/office/drawing/2014/main" id="{24F558EE-8606-4433-AB95-531748677C5E}"/>
                </a:ext>
              </a:extLst>
            </p:cNvPr>
            <p:cNvSpPr txBox="1"/>
            <p:nvPr userDrawn="1"/>
          </p:nvSpPr>
          <p:spPr>
            <a:xfrm rot="16200000">
              <a:off x="53388924" y="25746118"/>
              <a:ext cx="2432515" cy="338553"/>
            </a:xfrm>
            <a:prstGeom prst="rect">
              <a:avLst/>
            </a:prstGeom>
            <a:noFill/>
          </p:spPr>
          <p:txBody>
            <a:bodyPr wrap="square" lIns="91440" tIns="91440" rIns="91440" bIns="0" rtlCol="0">
              <a:spAutoFit/>
            </a:bodyPr>
            <a:lstStyle/>
            <a:p>
              <a:pPr algn="ctr"/>
              <a:r>
                <a:rPr lang="en-US" sz="1600" dirty="0">
                  <a:solidFill>
                    <a:srgbClr val="FF0000"/>
                  </a:solidFill>
                  <a:latin typeface="Frutiger LT Std 45 Light" pitchFamily="34" charset="0"/>
                </a:rPr>
                <a:t>Bad </a:t>
              </a:r>
              <a:r>
                <a:rPr lang="en-US" sz="1600" dirty="0">
                  <a:solidFill>
                    <a:schemeClr val="bg1"/>
                  </a:solidFill>
                  <a:latin typeface="Frutiger LT Std 45 Light" pitchFamily="34" charset="0"/>
                </a:rPr>
                <a:t>printing quality</a:t>
              </a:r>
            </a:p>
          </p:txBody>
        </p:sp>
        <p:pic>
          <p:nvPicPr>
            <p:cNvPr id="20" name="Picture 8" descr="X:\Graphics\Powerpoint templates project\library_back.jpg">
              <a:extLst>
                <a:ext uri="{FF2B5EF4-FFF2-40B4-BE49-F238E27FC236}">
                  <a16:creationId xmlns:a16="http://schemas.microsoft.com/office/drawing/2014/main" id="{13F5E22A-A856-421A-BEC7-81E73D268F05}"/>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45932398" y="24554359"/>
              <a:ext cx="3968274" cy="264551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9" descr="X:\Graphics\Powerpoint templates project\library_back_badres.jpg">
              <a:extLst>
                <a:ext uri="{FF2B5EF4-FFF2-40B4-BE49-F238E27FC236}">
                  <a16:creationId xmlns:a16="http://schemas.microsoft.com/office/drawing/2014/main" id="{CCA21BFC-1054-43A7-99E0-AE160BFA5345}"/>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485299" y="24554359"/>
              <a:ext cx="3950606" cy="2633737"/>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F1E0D527-9514-4D24-BFC0-17A2262879E6}"/>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0" y="4197"/>
            <a:ext cx="43891200" cy="5027898"/>
          </a:xfrm>
          <a:prstGeom prst="rect">
            <a:avLst/>
          </a:prstGeom>
        </p:spPr>
      </p:pic>
    </p:spTree>
  </p:cSld>
  <p:clrMap bg1="lt1" tx1="dk1" bg2="lt2" tx2="dk2" accent1="accent1" accent2="accent2" accent3="accent3" accent4="accent4" accent5="accent5" accent6="accent6" hlink="hlink" folHlink="folHlink"/>
  <p:sldLayoutIdLst>
    <p:sldLayoutId id="2147483652" r:id="rId1"/>
    <p:sldLayoutId id="2147483654" r:id="rId2"/>
    <p:sldLayoutId id="2147483655" r:id="rId3"/>
    <p:sldLayoutId id="2147483653" r:id="rId4"/>
  </p:sldLayoutIdLst>
  <p:txStyles>
    <p:titleStyle>
      <a:lvl1pPr algn="ctr" defTabSz="4388166"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563" indent="-1645563" algn="l" defTabSz="4388166"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166" rtl="0" eaLnBrk="1" latinLnBrk="0" hangingPunct="1">
        <a:defRPr sz="8600" kern="1200">
          <a:solidFill>
            <a:schemeClr val="tx1"/>
          </a:solidFill>
          <a:latin typeface="+mn-lt"/>
          <a:ea typeface="+mn-ea"/>
          <a:cs typeface="+mn-cs"/>
        </a:defRPr>
      </a:lvl1pPr>
      <a:lvl2pPr marL="2194085" algn="l" defTabSz="4388166" rtl="0" eaLnBrk="1" latinLnBrk="0" hangingPunct="1">
        <a:defRPr sz="8600" kern="1200">
          <a:solidFill>
            <a:schemeClr val="tx1"/>
          </a:solidFill>
          <a:latin typeface="+mn-lt"/>
          <a:ea typeface="+mn-ea"/>
          <a:cs typeface="+mn-cs"/>
        </a:defRPr>
      </a:lvl2pPr>
      <a:lvl3pPr marL="4388166" algn="l" defTabSz="4388166" rtl="0" eaLnBrk="1" latinLnBrk="0" hangingPunct="1">
        <a:defRPr sz="8600" kern="1200">
          <a:solidFill>
            <a:schemeClr val="tx1"/>
          </a:solidFill>
          <a:latin typeface="+mn-lt"/>
          <a:ea typeface="+mn-ea"/>
          <a:cs typeface="+mn-cs"/>
        </a:defRPr>
      </a:lvl3pPr>
      <a:lvl4pPr marL="6582250" algn="l" defTabSz="4388166" rtl="0" eaLnBrk="1" latinLnBrk="0" hangingPunct="1">
        <a:defRPr sz="8600" kern="1200">
          <a:solidFill>
            <a:schemeClr val="tx1"/>
          </a:solidFill>
          <a:latin typeface="+mn-lt"/>
          <a:ea typeface="+mn-ea"/>
          <a:cs typeface="+mn-cs"/>
        </a:defRPr>
      </a:lvl4pPr>
      <a:lvl5pPr marL="8776332" algn="l" defTabSz="4388166" rtl="0" eaLnBrk="1" latinLnBrk="0" hangingPunct="1">
        <a:defRPr sz="8600" kern="1200">
          <a:solidFill>
            <a:schemeClr val="tx1"/>
          </a:solidFill>
          <a:latin typeface="+mn-lt"/>
          <a:ea typeface="+mn-ea"/>
          <a:cs typeface="+mn-cs"/>
        </a:defRPr>
      </a:lvl5pPr>
      <a:lvl6pPr marL="10970417" algn="l" defTabSz="4388166" rtl="0" eaLnBrk="1" latinLnBrk="0" hangingPunct="1">
        <a:defRPr sz="8600" kern="1200">
          <a:solidFill>
            <a:schemeClr val="tx1"/>
          </a:solidFill>
          <a:latin typeface="+mn-lt"/>
          <a:ea typeface="+mn-ea"/>
          <a:cs typeface="+mn-cs"/>
        </a:defRPr>
      </a:lvl6pPr>
      <a:lvl7pPr marL="13164501" algn="l" defTabSz="4388166" rtl="0" eaLnBrk="1" latinLnBrk="0" hangingPunct="1">
        <a:defRPr sz="8600" kern="1200">
          <a:solidFill>
            <a:schemeClr val="tx1"/>
          </a:solidFill>
          <a:latin typeface="+mn-lt"/>
          <a:ea typeface="+mn-ea"/>
          <a:cs typeface="+mn-cs"/>
        </a:defRPr>
      </a:lvl7pPr>
      <a:lvl8pPr marL="15358582" algn="l" defTabSz="4388166" rtl="0" eaLnBrk="1" latinLnBrk="0" hangingPunct="1">
        <a:defRPr sz="8600" kern="1200">
          <a:solidFill>
            <a:schemeClr val="tx1"/>
          </a:solidFill>
          <a:latin typeface="+mn-lt"/>
          <a:ea typeface="+mn-ea"/>
          <a:cs typeface="+mn-cs"/>
        </a:defRPr>
      </a:lvl8pPr>
      <a:lvl9pPr marL="17552667" algn="l" defTabSz="4388166" rtl="0" eaLnBrk="1" latinLnBrk="0" hangingPunct="1">
        <a:defRPr sz="8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0016" userDrawn="1">
          <p15:clr>
            <a:srgbClr val="F26B43"/>
          </p15:clr>
        </p15:guide>
        <p15:guide id="2" orient="horz" pos="3168" userDrawn="1">
          <p15:clr>
            <a:srgbClr val="F26B43"/>
          </p15:clr>
        </p15:guide>
        <p15:guide id="3" orient="horz" pos="2976" userDrawn="1">
          <p15:clr>
            <a:srgbClr val="F26B43"/>
          </p15:clr>
        </p15:guide>
        <p15:guide id="4" orient="horz" pos="192" userDrawn="1">
          <p15:clr>
            <a:srgbClr val="F26B43"/>
          </p15:clr>
        </p15:guide>
        <p15:guide id="5" pos="576" userDrawn="1">
          <p15:clr>
            <a:srgbClr val="F26B43"/>
          </p15:clr>
        </p15:guide>
        <p15:guide id="6" pos="2707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2C92FEF-A183-840A-BD10-F974A96819C5}"/>
              </a:ext>
            </a:extLst>
          </p:cNvPr>
          <p:cNvPicPr>
            <a:picLocks noChangeAspect="1"/>
          </p:cNvPicPr>
          <p:nvPr/>
        </p:nvPicPr>
        <p:blipFill>
          <a:blip r:embed="rId2"/>
          <a:stretch>
            <a:fillRect/>
          </a:stretch>
        </p:blipFill>
        <p:spPr>
          <a:xfrm>
            <a:off x="483323" y="13298510"/>
            <a:ext cx="14061226" cy="7796876"/>
          </a:xfrm>
          <a:prstGeom prst="rect">
            <a:avLst/>
          </a:prstGeom>
        </p:spPr>
      </p:pic>
      <p:sp>
        <p:nvSpPr>
          <p:cNvPr id="248" name="Text Placeholder 247">
            <a:extLst>
              <a:ext uri="{FF2B5EF4-FFF2-40B4-BE49-F238E27FC236}">
                <a16:creationId xmlns:a16="http://schemas.microsoft.com/office/drawing/2014/main" id="{FCB588C2-E32C-4416-8904-BF8EBC58C324}"/>
              </a:ext>
            </a:extLst>
          </p:cNvPr>
          <p:cNvSpPr>
            <a:spLocks noGrp="1"/>
          </p:cNvSpPr>
          <p:nvPr>
            <p:ph type="body" sz="quarter" idx="11"/>
          </p:nvPr>
        </p:nvSpPr>
        <p:spPr>
          <a:xfrm>
            <a:off x="692780" y="5539712"/>
            <a:ext cx="13446799" cy="830997"/>
          </a:xfrm>
        </p:spPr>
        <p:txBody>
          <a:bodyPr/>
          <a:lstStyle/>
          <a:p>
            <a:r>
              <a:rPr lang="en-US" sz="4800" dirty="0"/>
              <a:t>Introduction</a:t>
            </a:r>
          </a:p>
        </p:txBody>
      </p:sp>
      <p:sp>
        <p:nvSpPr>
          <p:cNvPr id="249" name="Text Placeholder 248">
            <a:extLst>
              <a:ext uri="{FF2B5EF4-FFF2-40B4-BE49-F238E27FC236}">
                <a16:creationId xmlns:a16="http://schemas.microsoft.com/office/drawing/2014/main" id="{E0E9361C-2AB3-4A14-9958-43972D8A2542}"/>
              </a:ext>
            </a:extLst>
          </p:cNvPr>
          <p:cNvSpPr>
            <a:spLocks noGrp="1"/>
          </p:cNvSpPr>
          <p:nvPr>
            <p:ph type="body" sz="quarter" idx="157"/>
          </p:nvPr>
        </p:nvSpPr>
        <p:spPr>
          <a:xfrm>
            <a:off x="582245" y="6370709"/>
            <a:ext cx="13137237" cy="6361742"/>
          </a:xfrm>
        </p:spPr>
        <p:txBody>
          <a:bodyPr/>
          <a:lstStyle/>
          <a:p>
            <a:pPr marL="571500" indent="-571500">
              <a:buFont typeface="Arial" panose="020B0604020202020204" pitchFamily="34" charset="0"/>
              <a:buChar char="•"/>
            </a:pPr>
            <a:r>
              <a:rPr lang="en-US" sz="3600" b="1" dirty="0"/>
              <a:t>Stock-specific responses to climate change creates challenges</a:t>
            </a:r>
            <a:r>
              <a:rPr lang="en-US" sz="3600" dirty="0"/>
              <a:t> for stock assessors and the fishing industry and a need to forecast effects of climate change on fish stocks. </a:t>
            </a:r>
          </a:p>
          <a:p>
            <a:pPr marL="457200" indent="-457200">
              <a:buFont typeface="Arial" panose="020B0604020202020204" pitchFamily="34" charset="0"/>
              <a:buChar char="•"/>
            </a:pPr>
            <a:r>
              <a:rPr lang="en-US" sz="3600" b="1" dirty="0"/>
              <a:t>Management Strategy Evaluation (MSE) </a:t>
            </a:r>
            <a:r>
              <a:rPr lang="en-US" sz="3600" dirty="0"/>
              <a:t>is a modeling framework that simulates the outcomes of management decisions.</a:t>
            </a:r>
          </a:p>
          <a:p>
            <a:pPr marL="457200" indent="-457200">
              <a:buFont typeface="Arial" panose="020B0604020202020204" pitchFamily="34" charset="0"/>
              <a:buChar char="•"/>
            </a:pPr>
            <a:r>
              <a:rPr lang="en-US" sz="3600" dirty="0"/>
              <a:t>This study’s objectives are to test how </a:t>
            </a:r>
            <a:r>
              <a:rPr lang="en-US" sz="3600" b="1" dirty="0"/>
              <a:t>different choices for projecting environmental covariates </a:t>
            </a:r>
            <a:r>
              <a:rPr lang="en-US" sz="3600" dirty="0"/>
              <a:t>within stock assessment affect long-term fishery outcomes.</a:t>
            </a:r>
          </a:p>
        </p:txBody>
      </p:sp>
      <p:sp>
        <p:nvSpPr>
          <p:cNvPr id="255" name="Text Placeholder 254">
            <a:extLst>
              <a:ext uri="{FF2B5EF4-FFF2-40B4-BE49-F238E27FC236}">
                <a16:creationId xmlns:a16="http://schemas.microsoft.com/office/drawing/2014/main" id="{268B535F-1908-4E98-A2C6-C4AC9808F41E}"/>
              </a:ext>
            </a:extLst>
          </p:cNvPr>
          <p:cNvSpPr>
            <a:spLocks noGrp="1"/>
          </p:cNvSpPr>
          <p:nvPr>
            <p:ph type="body" sz="quarter" idx="188"/>
          </p:nvPr>
        </p:nvSpPr>
        <p:spPr>
          <a:xfrm>
            <a:off x="14807352" y="16274725"/>
            <a:ext cx="13277374" cy="7469737"/>
          </a:xfrm>
        </p:spPr>
        <p:txBody>
          <a:bodyPr/>
          <a:lstStyle/>
          <a:p>
            <a:pPr marL="457200" indent="-457200">
              <a:buFont typeface="Arial" panose="020B0604020202020204" pitchFamily="34" charset="0"/>
              <a:buChar char="•"/>
            </a:pPr>
            <a:r>
              <a:rPr lang="en-US" sz="3600" dirty="0"/>
              <a:t>Using </a:t>
            </a:r>
            <a:r>
              <a:rPr lang="en-US" sz="3600" b="1" dirty="0"/>
              <a:t>Georges Bank Yellowtail Flounder </a:t>
            </a:r>
            <a:r>
              <a:rPr lang="en-US" sz="3600" dirty="0"/>
              <a:t>(</a:t>
            </a:r>
            <a:r>
              <a:rPr lang="en-US" sz="3600" i="1" dirty="0"/>
              <a:t>Limanda ferruginea</a:t>
            </a:r>
            <a:r>
              <a:rPr lang="en-US" sz="3600" dirty="0"/>
              <a:t>) as a case study, this stock is currently overfished, and their recruitment is known to be sensitive to bottom temperature (Hyun et al 2014; Chen et al 2024).</a:t>
            </a:r>
            <a:endParaRPr lang="en-US" sz="3600" dirty="0">
              <a:highlight>
                <a:srgbClr val="FFFF00"/>
              </a:highlight>
            </a:endParaRPr>
          </a:p>
          <a:p>
            <a:pPr marL="457200" indent="-457200">
              <a:buFont typeface="Arial" panose="020B0604020202020204" pitchFamily="34" charset="0"/>
              <a:buChar char="•"/>
            </a:pPr>
            <a:r>
              <a:rPr lang="en-US" sz="3600" dirty="0"/>
              <a:t>We will use </a:t>
            </a:r>
            <a:r>
              <a:rPr lang="en-US" sz="3600" b="1" dirty="0"/>
              <a:t>temperature forecasts from the Modular Ocean Model (MOM6) </a:t>
            </a:r>
            <a:r>
              <a:rPr lang="en-US" sz="3600" dirty="0"/>
              <a:t>(Ross et al 2021) to use as our OM environmental covariate.</a:t>
            </a:r>
            <a:endParaRPr lang="en-US" sz="3600" dirty="0">
              <a:highlight>
                <a:srgbClr val="00FF00"/>
              </a:highlight>
            </a:endParaRPr>
          </a:p>
          <a:p>
            <a:pPr marL="457200" indent="-457200">
              <a:buFont typeface="Arial" panose="020B0604020202020204" pitchFamily="34" charset="0"/>
              <a:buChar char="•"/>
            </a:pPr>
            <a:r>
              <a:rPr lang="en-US" sz="3600" dirty="0"/>
              <a:t>Using the </a:t>
            </a:r>
            <a:r>
              <a:rPr lang="en-US" sz="3600" b="1" dirty="0"/>
              <a:t>Wood’s Hole Assessment Model (WHAM) and the whamMSE R package </a:t>
            </a:r>
            <a:r>
              <a:rPr lang="en-US" sz="3600" dirty="0"/>
              <a:t>(Stock &amp; Miller 2021; Li 2025). We will update these packages such that new temperature data is incorporated with each MSE period, simulating periodic stock assessments.</a:t>
            </a:r>
            <a:endParaRPr lang="en-US" sz="3000" dirty="0"/>
          </a:p>
        </p:txBody>
      </p:sp>
      <p:sp>
        <p:nvSpPr>
          <p:cNvPr id="256" name="Text Placeholder 255">
            <a:extLst>
              <a:ext uri="{FF2B5EF4-FFF2-40B4-BE49-F238E27FC236}">
                <a16:creationId xmlns:a16="http://schemas.microsoft.com/office/drawing/2014/main" id="{78254081-DDFB-4561-97DE-81B54EFD2EAF}"/>
              </a:ext>
            </a:extLst>
          </p:cNvPr>
          <p:cNvSpPr>
            <a:spLocks noGrp="1"/>
          </p:cNvSpPr>
          <p:nvPr>
            <p:ph type="body" sz="quarter" idx="189"/>
          </p:nvPr>
        </p:nvSpPr>
        <p:spPr>
          <a:xfrm>
            <a:off x="29372822" y="5422098"/>
            <a:ext cx="13478796" cy="830997"/>
          </a:xfrm>
        </p:spPr>
        <p:txBody>
          <a:bodyPr/>
          <a:lstStyle/>
          <a:p>
            <a:r>
              <a:rPr lang="en-US" sz="4800" dirty="0"/>
              <a:t>PROJECTIONS</a:t>
            </a:r>
          </a:p>
        </p:txBody>
      </p:sp>
      <p:sp>
        <p:nvSpPr>
          <p:cNvPr id="258" name="Text Placeholder 257">
            <a:extLst>
              <a:ext uri="{FF2B5EF4-FFF2-40B4-BE49-F238E27FC236}">
                <a16:creationId xmlns:a16="http://schemas.microsoft.com/office/drawing/2014/main" id="{76FC5FA2-0A9D-4A86-A759-6AC9024D4CD8}"/>
              </a:ext>
            </a:extLst>
          </p:cNvPr>
          <p:cNvSpPr>
            <a:spLocks noGrp="1"/>
          </p:cNvSpPr>
          <p:nvPr>
            <p:ph type="body" sz="quarter" idx="191"/>
          </p:nvPr>
        </p:nvSpPr>
        <p:spPr>
          <a:xfrm>
            <a:off x="29372822" y="20084732"/>
            <a:ext cx="13979748" cy="830997"/>
          </a:xfrm>
        </p:spPr>
        <p:txBody>
          <a:bodyPr/>
          <a:lstStyle/>
          <a:p>
            <a:r>
              <a:rPr lang="en-US" sz="4800" dirty="0"/>
              <a:t>NEXT STEPS</a:t>
            </a:r>
          </a:p>
        </p:txBody>
      </p:sp>
      <p:sp>
        <p:nvSpPr>
          <p:cNvPr id="261" name="Text Placeholder 260">
            <a:extLst>
              <a:ext uri="{FF2B5EF4-FFF2-40B4-BE49-F238E27FC236}">
                <a16:creationId xmlns:a16="http://schemas.microsoft.com/office/drawing/2014/main" id="{D30FC00E-DA69-4EDE-AE1F-6147F9476385}"/>
              </a:ext>
            </a:extLst>
          </p:cNvPr>
          <p:cNvSpPr>
            <a:spLocks noGrp="1"/>
          </p:cNvSpPr>
          <p:nvPr>
            <p:ph type="body" sz="quarter" idx="194"/>
          </p:nvPr>
        </p:nvSpPr>
        <p:spPr>
          <a:xfrm>
            <a:off x="44845832" y="14575369"/>
            <a:ext cx="12815577" cy="507831"/>
          </a:xfrm>
        </p:spPr>
        <p:txBody>
          <a:bodyPr/>
          <a:lstStyle/>
          <a:p>
            <a:pPr marL="457200" indent="-457200">
              <a:buFont typeface="Arial" panose="020B0604020202020204" pitchFamily="34" charset="0"/>
              <a:buChar char="•"/>
            </a:pPr>
            <a:r>
              <a:rPr lang="en-US" sz="3000" dirty="0"/>
              <a:t>BLAH BLAH BLAH BLHA</a:t>
            </a:r>
            <a:endParaRPr lang="en-US" sz="3400" dirty="0"/>
          </a:p>
        </p:txBody>
      </p:sp>
      <p:sp>
        <p:nvSpPr>
          <p:cNvPr id="252" name="Text Placeholder 251">
            <a:extLst>
              <a:ext uri="{FF2B5EF4-FFF2-40B4-BE49-F238E27FC236}">
                <a16:creationId xmlns:a16="http://schemas.microsoft.com/office/drawing/2014/main" id="{9A21323A-35E4-48E4-8148-B81DCD10C3A8}"/>
              </a:ext>
            </a:extLst>
          </p:cNvPr>
          <p:cNvSpPr>
            <a:spLocks noGrp="1"/>
          </p:cNvSpPr>
          <p:nvPr>
            <p:ph type="body" sz="quarter" idx="183"/>
          </p:nvPr>
        </p:nvSpPr>
        <p:spPr>
          <a:xfrm>
            <a:off x="1011105" y="493858"/>
            <a:ext cx="37934260" cy="2317750"/>
          </a:xfrm>
        </p:spPr>
        <p:txBody>
          <a:bodyPr>
            <a:normAutofit lnSpcReduction="10000"/>
          </a:bodyPr>
          <a:lstStyle/>
          <a:p>
            <a:r>
              <a:rPr lang="en-US" dirty="0"/>
              <a:t>APPLYING EFFECTIVE ENVIRONMENTAL FORECASTS TO MANAGEMENT STRATEGY EVALUATION OF YELLOWTAIL FLOUNDER</a:t>
            </a:r>
          </a:p>
        </p:txBody>
      </p:sp>
      <p:sp>
        <p:nvSpPr>
          <p:cNvPr id="253" name="Text Placeholder 252">
            <a:extLst>
              <a:ext uri="{FF2B5EF4-FFF2-40B4-BE49-F238E27FC236}">
                <a16:creationId xmlns:a16="http://schemas.microsoft.com/office/drawing/2014/main" id="{0437AAE5-35BE-4F13-8C85-9225E027280F}"/>
              </a:ext>
            </a:extLst>
          </p:cNvPr>
          <p:cNvSpPr>
            <a:spLocks noGrp="1"/>
          </p:cNvSpPr>
          <p:nvPr>
            <p:ph type="body" sz="quarter" idx="184"/>
          </p:nvPr>
        </p:nvSpPr>
        <p:spPr>
          <a:xfrm>
            <a:off x="957488" y="2894734"/>
            <a:ext cx="32798701" cy="1937838"/>
          </a:xfrm>
        </p:spPr>
        <p:txBody>
          <a:bodyPr>
            <a:normAutofit fontScale="92500" lnSpcReduction="20000"/>
          </a:bodyPr>
          <a:lstStyle/>
          <a:p>
            <a:r>
              <a:rPr lang="en-US" sz="5800" dirty="0"/>
              <a:t>Sophie Wulfing</a:t>
            </a:r>
            <a:r>
              <a:rPr lang="en-US" sz="5800" baseline="30000" dirty="0"/>
              <a:t>1</a:t>
            </a:r>
            <a:r>
              <a:rPr lang="en-US" sz="5800" dirty="0"/>
              <a:t>, Gavin Fay,</a:t>
            </a:r>
            <a:r>
              <a:rPr lang="en-US" sz="5800" baseline="30000" dirty="0"/>
              <a:t>1</a:t>
            </a:r>
            <a:r>
              <a:rPr lang="en-US" sz="5800" dirty="0"/>
              <a:t> Scott I. Large</a:t>
            </a:r>
            <a:r>
              <a:rPr lang="en-US" sz="5800" baseline="30000" dirty="0"/>
              <a:t>2</a:t>
            </a:r>
            <a:r>
              <a:rPr lang="en-US" sz="5800" dirty="0"/>
              <a:t>, Vincent Saba</a:t>
            </a:r>
            <a:r>
              <a:rPr lang="en-US" sz="5800" baseline="30000" dirty="0"/>
              <a:t>2</a:t>
            </a:r>
            <a:endParaRPr lang="en-US" baseline="30000" dirty="0"/>
          </a:p>
          <a:p>
            <a:r>
              <a:rPr lang="en-US" sz="3600" baseline="30000" dirty="0"/>
              <a:t>1</a:t>
            </a:r>
            <a:r>
              <a:rPr lang="en-US" sz="3600" dirty="0"/>
              <a:t>School for Marine Science and Technology, University of Massachusetts Dartmouth, </a:t>
            </a:r>
            <a:r>
              <a:rPr lang="en-US" sz="3600" baseline="30000" dirty="0"/>
              <a:t>2</a:t>
            </a:r>
            <a:r>
              <a:rPr lang="en-US" sz="3600" dirty="0"/>
              <a:t>NOAA Northeast Fisheries Science Center</a:t>
            </a:r>
          </a:p>
          <a:p>
            <a:r>
              <a:rPr lang="en-US" sz="3600" dirty="0"/>
              <a:t>Contact: swulfing@umassd.edu</a:t>
            </a:r>
          </a:p>
        </p:txBody>
      </p:sp>
      <p:sp>
        <p:nvSpPr>
          <p:cNvPr id="29" name="Text Placeholder 259">
            <a:extLst>
              <a:ext uri="{FF2B5EF4-FFF2-40B4-BE49-F238E27FC236}">
                <a16:creationId xmlns:a16="http://schemas.microsoft.com/office/drawing/2014/main" id="{ABD1EDC9-ADF5-CEA3-E800-E479542968F1}"/>
              </a:ext>
            </a:extLst>
          </p:cNvPr>
          <p:cNvSpPr txBox="1">
            <a:spLocks/>
          </p:cNvSpPr>
          <p:nvPr/>
        </p:nvSpPr>
        <p:spPr>
          <a:xfrm>
            <a:off x="29372822" y="26941352"/>
            <a:ext cx="13437679" cy="1717393"/>
          </a:xfrm>
          <a:prstGeom prst="rect">
            <a:avLst/>
          </a:prstGeom>
          <a:noFill/>
        </p:spPr>
        <p:txBody>
          <a:bodyPr wrap="square" lIns="91421" tIns="45720" rIns="91421" bIns="45720" anchor="ctr" anchorCtr="0">
            <a:spAutoFit/>
          </a:bodyPr>
          <a:lstStyle>
            <a:lvl1pPr marL="0" indent="0" algn="l" defTabSz="4388166" rtl="0" eaLnBrk="1" latinLnBrk="0" hangingPunct="1">
              <a:spcBef>
                <a:spcPct val="20000"/>
              </a:spcBef>
              <a:buFont typeface="Arial" pitchFamily="34" charset="0"/>
              <a:buNone/>
              <a:defRPr sz="3600" b="0" u="none" kern="1200" cap="all" baseline="0">
                <a:solidFill>
                  <a:srgbClr val="004A8D"/>
                </a:solidFill>
                <a:latin typeface="Franklin Gothic Medium" panose="020B0603020102020204" pitchFamily="34" charset="0"/>
                <a:ea typeface="+mn-ea"/>
                <a:cs typeface="+mn-cs"/>
              </a:defRPr>
            </a:lvl1pPr>
            <a:lvl2pPr marL="3565385" indent="-1371302" algn="l" defTabSz="4388166"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5208" indent="-1097042" algn="l" defTabSz="4388166"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79292"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337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4800" dirty="0"/>
              <a:t>References</a:t>
            </a:r>
          </a:p>
          <a:p>
            <a:endParaRPr lang="en-US" sz="4800" dirty="0"/>
          </a:p>
        </p:txBody>
      </p:sp>
      <p:sp>
        <p:nvSpPr>
          <p:cNvPr id="14" name="Text Placeholder 13">
            <a:extLst>
              <a:ext uri="{FF2B5EF4-FFF2-40B4-BE49-F238E27FC236}">
                <a16:creationId xmlns:a16="http://schemas.microsoft.com/office/drawing/2014/main" id="{495155DF-913C-FF1B-75EE-3613C6CE12B8}"/>
              </a:ext>
            </a:extLst>
          </p:cNvPr>
          <p:cNvSpPr>
            <a:spLocks noGrp="1"/>
          </p:cNvSpPr>
          <p:nvPr>
            <p:ph type="body" sz="quarter" idx="192"/>
          </p:nvPr>
        </p:nvSpPr>
        <p:spPr>
          <a:xfrm>
            <a:off x="593114" y="31096744"/>
            <a:ext cx="26406345" cy="1154162"/>
          </a:xfrm>
        </p:spPr>
        <p:txBody>
          <a:bodyPr/>
          <a:lstStyle/>
          <a:p>
            <a:r>
              <a:rPr lang="en-US" sz="4000" b="1" dirty="0"/>
              <a:t>↑</a:t>
            </a:r>
            <a:r>
              <a:rPr lang="en-US" sz="3200" dirty="0"/>
              <a:t> Figure 2: Visualization of the MSE process used in our analysis where at each evaluation, the Estimation Model (EM) incorporates the previous three years of temperature data into its assessment and catch advice for the next three years.</a:t>
            </a:r>
          </a:p>
        </p:txBody>
      </p:sp>
      <p:sp>
        <p:nvSpPr>
          <p:cNvPr id="3" name="Text Placeholder 2">
            <a:extLst>
              <a:ext uri="{FF2B5EF4-FFF2-40B4-BE49-F238E27FC236}">
                <a16:creationId xmlns:a16="http://schemas.microsoft.com/office/drawing/2014/main" id="{4BF49E27-D05C-038D-9436-606C8805964E}"/>
              </a:ext>
            </a:extLst>
          </p:cNvPr>
          <p:cNvSpPr>
            <a:spLocks noGrp="1"/>
          </p:cNvSpPr>
          <p:nvPr>
            <p:ph type="body" sz="quarter" idx="165"/>
          </p:nvPr>
        </p:nvSpPr>
        <p:spPr>
          <a:xfrm>
            <a:off x="14706761" y="15357166"/>
            <a:ext cx="13478557" cy="830997"/>
          </a:xfrm>
        </p:spPr>
        <p:txBody>
          <a:bodyPr/>
          <a:lstStyle/>
          <a:p>
            <a:r>
              <a:rPr lang="en-US" sz="4800" dirty="0"/>
              <a:t>METHODS – DATA </a:t>
            </a:r>
          </a:p>
        </p:txBody>
      </p:sp>
      <p:sp>
        <p:nvSpPr>
          <p:cNvPr id="15" name="Text Placeholder 254">
            <a:extLst>
              <a:ext uri="{FF2B5EF4-FFF2-40B4-BE49-F238E27FC236}">
                <a16:creationId xmlns:a16="http://schemas.microsoft.com/office/drawing/2014/main" id="{200B346D-4FDB-590F-820F-87B35D9083D5}"/>
              </a:ext>
            </a:extLst>
          </p:cNvPr>
          <p:cNvSpPr txBox="1">
            <a:spLocks/>
          </p:cNvSpPr>
          <p:nvPr/>
        </p:nvSpPr>
        <p:spPr>
          <a:xfrm>
            <a:off x="29439999" y="8758743"/>
            <a:ext cx="13064653" cy="11126123"/>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457200" indent="-457200">
              <a:buFont typeface="Arial" panose="020B0604020202020204" pitchFamily="34" charset="0"/>
              <a:buChar char="•"/>
            </a:pPr>
            <a:r>
              <a:rPr lang="en-US" sz="3600" b="1" dirty="0"/>
              <a:t>OM Projection – </a:t>
            </a:r>
            <a:r>
              <a:rPr lang="en-US" sz="3600" dirty="0"/>
              <a:t>Operating Model. This is the “real” condition of the fishery that will be used to simulate stock growth and ocean conditions. The estimation models will update bottom temperatures from the OM every MSE period.</a:t>
            </a:r>
            <a:endParaRPr lang="en-US" sz="3600" b="1" dirty="0"/>
          </a:p>
          <a:p>
            <a:pPr marL="457200" indent="-457200">
              <a:buFont typeface="Arial" panose="020B0604020202020204" pitchFamily="34" charset="0"/>
              <a:buChar char="•"/>
            </a:pPr>
            <a:r>
              <a:rPr lang="en-US" sz="3600" b="1" dirty="0"/>
              <a:t>AR1</a:t>
            </a:r>
            <a:r>
              <a:rPr lang="en-US" sz="3600" dirty="0"/>
              <a:t> – AutoRegressive(1) estimation process uses a linear regression of the current values of the time series on the previous value. This is an automatic setting in the WhamMSE package.</a:t>
            </a:r>
          </a:p>
          <a:p>
            <a:pPr marL="457200" indent="-457200">
              <a:buFont typeface="Arial" panose="020B0604020202020204" pitchFamily="34" charset="0"/>
              <a:buChar char="•"/>
            </a:pPr>
            <a:r>
              <a:rPr lang="en-US" sz="3600" b="1" dirty="0" err="1"/>
              <a:t>NewWind</a:t>
            </a:r>
            <a:r>
              <a:rPr lang="en-US" sz="3600" dirty="0"/>
              <a:t> – Newest Window. This projection uses the average temperature from the last five years as its projection</a:t>
            </a:r>
            <a:endParaRPr lang="en-US" sz="3600" b="1" dirty="0"/>
          </a:p>
          <a:p>
            <a:pPr marL="457200" indent="-457200">
              <a:buFont typeface="Arial" panose="020B0604020202020204" pitchFamily="34" charset="0"/>
              <a:buChar char="•"/>
            </a:pPr>
            <a:r>
              <a:rPr lang="en-US" sz="3600" b="1" dirty="0" err="1"/>
              <a:t>HistAvg</a:t>
            </a:r>
            <a:r>
              <a:rPr lang="en-US" sz="3600" dirty="0"/>
              <a:t> – Historical Average. Uses the average of the whole data series</a:t>
            </a:r>
            <a:endParaRPr lang="en-US" sz="3600" b="1" dirty="0"/>
          </a:p>
          <a:p>
            <a:pPr marL="457200" indent="-457200">
              <a:buFont typeface="Arial" panose="020B0604020202020204" pitchFamily="34" charset="0"/>
              <a:buChar char="•"/>
            </a:pPr>
            <a:r>
              <a:rPr lang="en-US" sz="3600" b="1" dirty="0" err="1"/>
              <a:t>NewTrend</a:t>
            </a:r>
            <a:r>
              <a:rPr lang="en-US" sz="3600" dirty="0"/>
              <a:t> – Newest Trend. This projection uses the linear regression of last five years of temperature data to project temperature.</a:t>
            </a:r>
            <a:endParaRPr lang="en-US" sz="3600" b="1" dirty="0"/>
          </a:p>
          <a:p>
            <a:pPr marL="457200" indent="-457200">
              <a:buFont typeface="Arial" panose="020B0604020202020204" pitchFamily="34" charset="0"/>
              <a:buChar char="•"/>
            </a:pPr>
            <a:r>
              <a:rPr lang="en-US" sz="3600" b="1" dirty="0" err="1"/>
              <a:t>NoTemp</a:t>
            </a:r>
            <a:r>
              <a:rPr lang="en-US" sz="3600" dirty="0"/>
              <a:t> – No temperature (not pictured). No Environmental covariate is used in this projection.</a:t>
            </a:r>
          </a:p>
        </p:txBody>
      </p:sp>
      <p:sp>
        <p:nvSpPr>
          <p:cNvPr id="24" name="TextBox 23">
            <a:extLst>
              <a:ext uri="{FF2B5EF4-FFF2-40B4-BE49-F238E27FC236}">
                <a16:creationId xmlns:a16="http://schemas.microsoft.com/office/drawing/2014/main" id="{CCD79362-9C34-1074-E795-B5161D29B322}"/>
              </a:ext>
            </a:extLst>
          </p:cNvPr>
          <p:cNvSpPr txBox="1"/>
          <p:nvPr/>
        </p:nvSpPr>
        <p:spPr>
          <a:xfrm>
            <a:off x="15624564" y="5063867"/>
            <a:ext cx="5563431" cy="1200329"/>
          </a:xfrm>
          <a:prstGeom prst="rect">
            <a:avLst/>
          </a:prstGeom>
          <a:noFill/>
        </p:spPr>
        <p:txBody>
          <a:bodyPr wrap="square" rtlCol="0">
            <a:spAutoFit/>
          </a:bodyPr>
          <a:lstStyle/>
          <a:p>
            <a:pPr algn="ctr"/>
            <a:r>
              <a:rPr lang="en-US" sz="3600" dirty="0">
                <a:latin typeface="Avenir Next LT Pro" panose="020B0504020202020204" pitchFamily="34" charset="0"/>
              </a:rPr>
              <a:t>Assessment Estimate Period</a:t>
            </a:r>
          </a:p>
        </p:txBody>
      </p:sp>
      <p:sp>
        <p:nvSpPr>
          <p:cNvPr id="25" name="TextBox 24">
            <a:extLst>
              <a:ext uri="{FF2B5EF4-FFF2-40B4-BE49-F238E27FC236}">
                <a16:creationId xmlns:a16="http://schemas.microsoft.com/office/drawing/2014/main" id="{0BC2592E-94F0-E150-987D-47C6727C97C0}"/>
              </a:ext>
            </a:extLst>
          </p:cNvPr>
          <p:cNvSpPr txBox="1"/>
          <p:nvPr/>
        </p:nvSpPr>
        <p:spPr>
          <a:xfrm>
            <a:off x="21187995" y="5278418"/>
            <a:ext cx="5563430" cy="646331"/>
          </a:xfrm>
          <a:prstGeom prst="rect">
            <a:avLst/>
          </a:prstGeom>
          <a:noFill/>
        </p:spPr>
        <p:txBody>
          <a:bodyPr wrap="square" rtlCol="0">
            <a:spAutoFit/>
          </a:bodyPr>
          <a:lstStyle/>
          <a:p>
            <a:pPr algn="ctr"/>
            <a:r>
              <a:rPr lang="en-US" sz="3600" dirty="0">
                <a:latin typeface="Avenir Next LT Pro" panose="020B0504020202020204" pitchFamily="34" charset="0"/>
              </a:rPr>
              <a:t>Projection Period</a:t>
            </a:r>
          </a:p>
        </p:txBody>
      </p:sp>
      <p:sp>
        <p:nvSpPr>
          <p:cNvPr id="46" name="Rectangle 45">
            <a:extLst>
              <a:ext uri="{FF2B5EF4-FFF2-40B4-BE49-F238E27FC236}">
                <a16:creationId xmlns:a16="http://schemas.microsoft.com/office/drawing/2014/main" id="{392B3269-EC23-5019-DE38-805D731F82F9}"/>
              </a:ext>
            </a:extLst>
          </p:cNvPr>
          <p:cNvSpPr/>
          <p:nvPr/>
        </p:nvSpPr>
        <p:spPr>
          <a:xfrm>
            <a:off x="539026" y="23937428"/>
            <a:ext cx="27550350" cy="5967060"/>
          </a:xfrm>
          <a:prstGeom prst="rect">
            <a:avLst/>
          </a:prstGeom>
          <a:solidFill>
            <a:schemeClr val="accent1">
              <a:lumMod val="40000"/>
              <a:lumOff val="60000"/>
            </a:schemeClr>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Arrow: Right 49">
            <a:extLst>
              <a:ext uri="{FF2B5EF4-FFF2-40B4-BE49-F238E27FC236}">
                <a16:creationId xmlns:a16="http://schemas.microsoft.com/office/drawing/2014/main" id="{9662C418-2A8C-2928-CD19-04EAE69A5CA1}"/>
              </a:ext>
            </a:extLst>
          </p:cNvPr>
          <p:cNvSpPr/>
          <p:nvPr/>
        </p:nvSpPr>
        <p:spPr>
          <a:xfrm>
            <a:off x="413056" y="29389612"/>
            <a:ext cx="27787373" cy="2240109"/>
          </a:xfrm>
          <a:prstGeom prst="rightArrow">
            <a:avLst/>
          </a:prstGeom>
          <a:solidFill>
            <a:schemeClr val="bg2">
              <a:lumMod val="25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5100" dirty="0"/>
              <a:t>Operating Model Projection</a:t>
            </a:r>
          </a:p>
        </p:txBody>
      </p:sp>
      <p:cxnSp>
        <p:nvCxnSpPr>
          <p:cNvPr id="54" name="Straight Connector 53">
            <a:extLst>
              <a:ext uri="{FF2B5EF4-FFF2-40B4-BE49-F238E27FC236}">
                <a16:creationId xmlns:a16="http://schemas.microsoft.com/office/drawing/2014/main" id="{9D5FD4EF-5BAF-E0FD-CD5E-4E1866A9F53B}"/>
              </a:ext>
            </a:extLst>
          </p:cNvPr>
          <p:cNvCxnSpPr>
            <a:cxnSpLocks/>
          </p:cNvCxnSpPr>
          <p:nvPr/>
        </p:nvCxnSpPr>
        <p:spPr>
          <a:xfrm>
            <a:off x="14321880" y="24807895"/>
            <a:ext cx="0" cy="505259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 Placeholder 248">
            <a:extLst>
              <a:ext uri="{FF2B5EF4-FFF2-40B4-BE49-F238E27FC236}">
                <a16:creationId xmlns:a16="http://schemas.microsoft.com/office/drawing/2014/main" id="{4480B8B0-429A-64D0-DADB-219B3E3B4170}"/>
              </a:ext>
            </a:extLst>
          </p:cNvPr>
          <p:cNvSpPr txBox="1">
            <a:spLocks/>
          </p:cNvSpPr>
          <p:nvPr/>
        </p:nvSpPr>
        <p:spPr>
          <a:xfrm>
            <a:off x="29372822" y="20984966"/>
            <a:ext cx="13088287" cy="5696944"/>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571500" indent="-571500">
              <a:buFont typeface="Arial" panose="020B0604020202020204" pitchFamily="34" charset="0"/>
              <a:buChar char="•"/>
            </a:pPr>
            <a:r>
              <a:rPr lang="en-US" sz="3600" dirty="0"/>
              <a:t>Once the whamMSE package has been properly updated, we will create a series of tradeoff plots to assess the benefits and disadvantages of the catch advice created in the Evaluations</a:t>
            </a:r>
          </a:p>
          <a:p>
            <a:pPr marL="571500" indent="-571500">
              <a:buFont typeface="Arial" panose="020B0604020202020204" pitchFamily="34" charset="0"/>
              <a:buChar char="•"/>
            </a:pPr>
            <a:r>
              <a:rPr lang="en-US" sz="3600" dirty="0"/>
              <a:t>This research then can be expanded to additional species which have been shown to exhibit different responses beyond recruitment (e.g. growth, natural mortality) or species that respond to different environmental covariates (e.g. Cold Pool Indices, seasonal oscillations)</a:t>
            </a:r>
            <a:endParaRPr lang="en-US" sz="3600" dirty="0">
              <a:highlight>
                <a:srgbClr val="FFFF00"/>
              </a:highlight>
            </a:endParaRPr>
          </a:p>
        </p:txBody>
      </p:sp>
      <p:sp>
        <p:nvSpPr>
          <p:cNvPr id="4" name="Text Placeholder 13">
            <a:extLst>
              <a:ext uri="{FF2B5EF4-FFF2-40B4-BE49-F238E27FC236}">
                <a16:creationId xmlns:a16="http://schemas.microsoft.com/office/drawing/2014/main" id="{F34AA3B3-0DDA-D9DD-00E7-0B2D10E159A3}"/>
              </a:ext>
            </a:extLst>
          </p:cNvPr>
          <p:cNvSpPr txBox="1">
            <a:spLocks/>
          </p:cNvSpPr>
          <p:nvPr/>
        </p:nvSpPr>
        <p:spPr>
          <a:xfrm>
            <a:off x="252280" y="21226823"/>
            <a:ext cx="13797165" cy="1154162"/>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4000" b="1" dirty="0"/>
              <a:t>↑</a:t>
            </a:r>
            <a:r>
              <a:rPr lang="en-US" sz="3200" dirty="0"/>
              <a:t> </a:t>
            </a:r>
            <a:r>
              <a:rPr lang="en-US" dirty="0"/>
              <a:t> </a:t>
            </a:r>
            <a:r>
              <a:rPr lang="en-US" sz="3200" dirty="0"/>
              <a:t>Figure 1: Example of bottom temperature data from MOM6. The Yellowtail Georges Bank Stock Area is outlined in red</a:t>
            </a:r>
          </a:p>
        </p:txBody>
      </p:sp>
      <p:sp>
        <p:nvSpPr>
          <p:cNvPr id="55" name="TextBox 54">
            <a:extLst>
              <a:ext uri="{FF2B5EF4-FFF2-40B4-BE49-F238E27FC236}">
                <a16:creationId xmlns:a16="http://schemas.microsoft.com/office/drawing/2014/main" id="{AD676246-EDAF-47D6-9095-1A5A69FF49AE}"/>
              </a:ext>
            </a:extLst>
          </p:cNvPr>
          <p:cNvSpPr txBox="1"/>
          <p:nvPr/>
        </p:nvSpPr>
        <p:spPr>
          <a:xfrm>
            <a:off x="10031499" y="23930732"/>
            <a:ext cx="8619667" cy="877163"/>
          </a:xfrm>
          <a:prstGeom prst="rect">
            <a:avLst/>
          </a:prstGeom>
          <a:noFill/>
        </p:spPr>
        <p:txBody>
          <a:bodyPr wrap="none" rtlCol="0">
            <a:spAutoFit/>
          </a:bodyPr>
          <a:lstStyle/>
          <a:p>
            <a:r>
              <a:rPr lang="en-US" sz="5100" dirty="0"/>
              <a:t>Estimation Model Projections</a:t>
            </a:r>
          </a:p>
        </p:txBody>
      </p:sp>
      <p:cxnSp>
        <p:nvCxnSpPr>
          <p:cNvPr id="1025" name="Straight Connector 1024">
            <a:extLst>
              <a:ext uri="{FF2B5EF4-FFF2-40B4-BE49-F238E27FC236}">
                <a16:creationId xmlns:a16="http://schemas.microsoft.com/office/drawing/2014/main" id="{FB37DE70-942A-E419-E63B-E2030EC76AB4}"/>
              </a:ext>
            </a:extLst>
          </p:cNvPr>
          <p:cNvCxnSpPr>
            <a:cxnSpLocks/>
          </p:cNvCxnSpPr>
          <p:nvPr/>
        </p:nvCxnSpPr>
        <p:spPr>
          <a:xfrm>
            <a:off x="21172795" y="23939567"/>
            <a:ext cx="0" cy="5913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027" name="Straight Connector 1026">
            <a:extLst>
              <a:ext uri="{FF2B5EF4-FFF2-40B4-BE49-F238E27FC236}">
                <a16:creationId xmlns:a16="http://schemas.microsoft.com/office/drawing/2014/main" id="{29077F67-F048-A562-D4EA-B68F365A7E27}"/>
              </a:ext>
            </a:extLst>
          </p:cNvPr>
          <p:cNvCxnSpPr>
            <a:cxnSpLocks/>
          </p:cNvCxnSpPr>
          <p:nvPr/>
        </p:nvCxnSpPr>
        <p:spPr>
          <a:xfrm>
            <a:off x="7322106" y="23964375"/>
            <a:ext cx="0" cy="5913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1045" name="Rectangle: Rounded Corners 1044">
            <a:extLst>
              <a:ext uri="{FF2B5EF4-FFF2-40B4-BE49-F238E27FC236}">
                <a16:creationId xmlns:a16="http://schemas.microsoft.com/office/drawing/2014/main" id="{B46EB768-C7B2-A710-8FCF-0E439A257412}"/>
              </a:ext>
            </a:extLst>
          </p:cNvPr>
          <p:cNvSpPr/>
          <p:nvPr/>
        </p:nvSpPr>
        <p:spPr>
          <a:xfrm>
            <a:off x="21751328" y="25170350"/>
            <a:ext cx="5657915" cy="3987454"/>
          </a:xfrm>
          <a:prstGeom prst="round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defTabSz="914400">
              <a:defRPr/>
            </a:pPr>
            <a:r>
              <a:rPr lang="en-US" sz="6000" kern="0" dirty="0">
                <a:solidFill>
                  <a:schemeClr val="bg1"/>
                </a:solidFill>
              </a:rPr>
              <a:t>Evaluation Continued…</a:t>
            </a:r>
          </a:p>
        </p:txBody>
      </p:sp>
      <p:pic>
        <p:nvPicPr>
          <p:cNvPr id="1052" name="Picture 1051">
            <a:extLst>
              <a:ext uri="{FF2B5EF4-FFF2-40B4-BE49-F238E27FC236}">
                <a16:creationId xmlns:a16="http://schemas.microsoft.com/office/drawing/2014/main" id="{EA66B52D-CE3D-F4CF-A059-5DC0ACAAF2D5}"/>
              </a:ext>
            </a:extLst>
          </p:cNvPr>
          <p:cNvPicPr>
            <a:picLocks noChangeAspect="1"/>
          </p:cNvPicPr>
          <p:nvPr/>
        </p:nvPicPr>
        <p:blipFill>
          <a:blip r:embed="rId3"/>
          <a:stretch>
            <a:fillRect/>
          </a:stretch>
        </p:blipFill>
        <p:spPr>
          <a:xfrm>
            <a:off x="14605806" y="6119840"/>
            <a:ext cx="14711678" cy="9469832"/>
          </a:xfrm>
          <a:prstGeom prst="rect">
            <a:avLst/>
          </a:prstGeom>
        </p:spPr>
      </p:pic>
      <p:cxnSp>
        <p:nvCxnSpPr>
          <p:cNvPr id="21" name="Straight Connector 20">
            <a:extLst>
              <a:ext uri="{FF2B5EF4-FFF2-40B4-BE49-F238E27FC236}">
                <a16:creationId xmlns:a16="http://schemas.microsoft.com/office/drawing/2014/main" id="{FD1501CA-F393-EA63-4E64-9C77AAA4EEFA}"/>
              </a:ext>
            </a:extLst>
          </p:cNvPr>
          <p:cNvCxnSpPr>
            <a:cxnSpLocks/>
          </p:cNvCxnSpPr>
          <p:nvPr/>
        </p:nvCxnSpPr>
        <p:spPr>
          <a:xfrm>
            <a:off x="20083723" y="6048133"/>
            <a:ext cx="0" cy="881735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 name="Text Placeholder 13">
            <a:extLst>
              <a:ext uri="{FF2B5EF4-FFF2-40B4-BE49-F238E27FC236}">
                <a16:creationId xmlns:a16="http://schemas.microsoft.com/office/drawing/2014/main" id="{F24D0BCB-00CD-B7AD-EB8D-C62DDE3FDE91}"/>
              </a:ext>
            </a:extLst>
          </p:cNvPr>
          <p:cNvSpPr txBox="1">
            <a:spLocks/>
          </p:cNvSpPr>
          <p:nvPr/>
        </p:nvSpPr>
        <p:spPr>
          <a:xfrm>
            <a:off x="28352829" y="6367322"/>
            <a:ext cx="15690771" cy="2139047"/>
          </a:xfrm>
          <a:prstGeom prst="rect">
            <a:avLst/>
          </a:prstGeom>
        </p:spPr>
        <p:txBody>
          <a:bodyPr wrap="square" lIns="91440" tIns="45720" rIns="91440" bIns="0">
            <a:spAutoFit/>
          </a:bodyPr>
          <a:lstStyle>
            <a:lvl1pPr marL="0" indent="0" algn="l" defTabSz="4388166" rtl="0" eaLnBrk="1" latinLnBrk="0" hangingPunct="1">
              <a:spcBef>
                <a:spcPct val="20000"/>
              </a:spcBef>
              <a:buFontTx/>
              <a:buNone/>
              <a:defRPr sz="2800" b="0" kern="1200" spc="198" baseline="0">
                <a:solidFill>
                  <a:schemeClr val="tx1"/>
                </a:solidFill>
                <a:latin typeface="Avenir Next LT Pro" panose="020B0504020202020204" pitchFamily="34" charset="0"/>
                <a:ea typeface="+mn-ea"/>
                <a:cs typeface="Arial" panose="020B0604020202020204" pitchFamily="34" charset="0"/>
              </a:defRPr>
            </a:lvl1pPr>
            <a:lvl2pPr marL="667227" indent="-248603"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2pPr>
            <a:lvl3pPr marL="1132999" indent="-201454" algn="l" defTabSz="4388166" rtl="0" eaLnBrk="1" latinLnBrk="0" hangingPunct="1">
              <a:spcBef>
                <a:spcPct val="20000"/>
              </a:spcBef>
              <a:buFont typeface="Arial" panose="020B0604020202020204" pitchFamily="34" charset="0"/>
              <a:buChar char="•"/>
              <a:defRPr sz="2800" b="0" kern="1200" spc="198" baseline="0">
                <a:solidFill>
                  <a:schemeClr val="tx1"/>
                </a:solidFill>
                <a:latin typeface="Avenir Next LT Pro" panose="020B0504020202020204" pitchFamily="34" charset="0"/>
                <a:ea typeface="+mn-ea"/>
                <a:cs typeface="Arial" panose="020B0604020202020204" pitchFamily="34" charset="0"/>
              </a:defRPr>
            </a:lvl3pPr>
            <a:lvl4pPr marL="1754505" indent="-311468"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4pPr>
            <a:lvl5pPr marL="2313147" indent="-285750" algn="l" defTabSz="4388166" rtl="0" eaLnBrk="1" latinLnBrk="0" hangingPunct="1">
              <a:spcBef>
                <a:spcPct val="20000"/>
              </a:spcBef>
              <a:buFont typeface="Arial" panose="020B0604020202020204" pitchFamily="34" charset="0"/>
              <a:buChar char="•"/>
              <a:defRPr sz="2400" b="0" kern="1200" spc="198" baseline="0">
                <a:solidFill>
                  <a:schemeClr val="tx1"/>
                </a:solidFill>
                <a:latin typeface="Avenir Next LT Pro" panose="020B0504020202020204" pitchFamily="34" charset="0"/>
                <a:ea typeface="+mn-ea"/>
                <a:cs typeface="Arial" panose="020B0604020202020204" pitchFamily="34" charset="0"/>
              </a:defRPr>
            </a:lvl5pPr>
            <a:lvl6pPr marL="12067458"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1540"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5624"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49706" indent="-1097042" algn="l" defTabSz="4388166"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t> </a:t>
            </a:r>
            <a:r>
              <a:rPr lang="en-US" sz="4000" b="1" dirty="0"/>
              <a:t>←</a:t>
            </a:r>
            <a:r>
              <a:rPr lang="en-US" sz="3200" b="1" dirty="0"/>
              <a:t> </a:t>
            </a:r>
            <a:r>
              <a:rPr lang="en-US" sz="3200" dirty="0"/>
              <a:t>Figure 3: Example temperature Projections that will be used by each EM in each Evaluation Event. The red line denotes the first evaluation event, where they models now rely on temperature projections for the environmental covariate</a:t>
            </a:r>
          </a:p>
        </p:txBody>
      </p:sp>
      <p:sp>
        <p:nvSpPr>
          <p:cNvPr id="5" name="Arrow: Right 4">
            <a:extLst>
              <a:ext uri="{FF2B5EF4-FFF2-40B4-BE49-F238E27FC236}">
                <a16:creationId xmlns:a16="http://schemas.microsoft.com/office/drawing/2014/main" id="{BE0C819D-021B-C18D-9847-5BFFBBABCBF6}"/>
              </a:ext>
            </a:extLst>
          </p:cNvPr>
          <p:cNvSpPr/>
          <p:nvPr/>
        </p:nvSpPr>
        <p:spPr>
          <a:xfrm>
            <a:off x="26636288" y="27907045"/>
            <a:ext cx="1564141" cy="1212112"/>
          </a:xfrm>
          <a:prstGeom prst="rightArrow">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solidFill>
                <a:srgbClr val="FFFFFF"/>
              </a:solidFill>
            </a:endParaRPr>
          </a:p>
        </p:txBody>
      </p:sp>
      <p:grpSp>
        <p:nvGrpSpPr>
          <p:cNvPr id="35" name="Group 34">
            <a:extLst>
              <a:ext uri="{FF2B5EF4-FFF2-40B4-BE49-F238E27FC236}">
                <a16:creationId xmlns:a16="http://schemas.microsoft.com/office/drawing/2014/main" id="{9153974E-5917-5578-F681-77ABC8C057FC}"/>
              </a:ext>
            </a:extLst>
          </p:cNvPr>
          <p:cNvGrpSpPr/>
          <p:nvPr/>
        </p:nvGrpSpPr>
        <p:grpSpPr>
          <a:xfrm>
            <a:off x="8000168" y="25170350"/>
            <a:ext cx="13172628" cy="5347209"/>
            <a:chOff x="8000168" y="25344522"/>
            <a:chExt cx="13172628" cy="5347209"/>
          </a:xfrm>
        </p:grpSpPr>
        <p:sp>
          <p:nvSpPr>
            <p:cNvPr id="1039" name="Rectangle: Rounded Corners 1038">
              <a:extLst>
                <a:ext uri="{FF2B5EF4-FFF2-40B4-BE49-F238E27FC236}">
                  <a16:creationId xmlns:a16="http://schemas.microsoft.com/office/drawing/2014/main" id="{C6CB5910-7EF2-74F1-42F9-DC2AFC5EABA8}"/>
                </a:ext>
              </a:extLst>
            </p:cNvPr>
            <p:cNvSpPr/>
            <p:nvPr/>
          </p:nvSpPr>
          <p:spPr>
            <a:xfrm>
              <a:off x="8000168" y="25344522"/>
              <a:ext cx="5657915" cy="3977420"/>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defTabSz="914400">
                <a:defRPr/>
              </a:pPr>
              <a:r>
                <a:rPr lang="en-US" sz="6000" kern="0" dirty="0">
                  <a:solidFill>
                    <a:schemeClr val="bg1"/>
                  </a:solidFill>
                </a:rPr>
                <a:t>Evaluation 2</a:t>
              </a:r>
            </a:p>
            <a:p>
              <a:pPr marL="0" lvl="1" algn="ctr" defTabSz="914400">
                <a:defRPr/>
              </a:pPr>
              <a:endParaRPr lang="en-US" sz="3600" kern="0" dirty="0">
                <a:solidFill>
                  <a:schemeClr val="bg1"/>
                </a:solidFill>
              </a:endParaRPr>
            </a:p>
            <a:p>
              <a:pPr marL="0" lvl="1" algn="ctr" defTabSz="914400">
                <a:defRPr/>
              </a:pPr>
              <a:r>
                <a:rPr lang="en-US" sz="3600" kern="0" dirty="0">
                  <a:solidFill>
                    <a:schemeClr val="bg1"/>
                  </a:solidFill>
                </a:rPr>
                <a:t>2022-2025 temperature data incorporated from om</a:t>
              </a:r>
            </a:p>
          </p:txBody>
        </p:sp>
        <p:sp>
          <p:nvSpPr>
            <p:cNvPr id="10" name="Block Arc 9">
              <a:extLst>
                <a:ext uri="{FF2B5EF4-FFF2-40B4-BE49-F238E27FC236}">
                  <a16:creationId xmlns:a16="http://schemas.microsoft.com/office/drawing/2014/main" id="{50E536F5-5D43-CEF4-2A37-94FE76341F2F}"/>
                </a:ext>
              </a:extLst>
            </p:cNvPr>
            <p:cNvSpPr/>
            <p:nvPr/>
          </p:nvSpPr>
          <p:spPr>
            <a:xfrm rot="5400000">
              <a:off x="11998859" y="27291648"/>
              <a:ext cx="2350274" cy="2280410"/>
            </a:xfrm>
            <a:prstGeom prst="blockArc">
              <a:avLst>
                <a:gd name="adj1" fmla="val 10800000"/>
                <a:gd name="adj2" fmla="val 16523304"/>
                <a:gd name="adj3" fmla="val 25964"/>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Block Arc 12">
              <a:extLst>
                <a:ext uri="{FF2B5EF4-FFF2-40B4-BE49-F238E27FC236}">
                  <a16:creationId xmlns:a16="http://schemas.microsoft.com/office/drawing/2014/main" id="{9D93AFFF-1FCD-DD0F-CBDB-58B11C3767AB}"/>
                </a:ext>
              </a:extLst>
            </p:cNvPr>
            <p:cNvSpPr/>
            <p:nvPr/>
          </p:nvSpPr>
          <p:spPr>
            <a:xfrm rot="16200000">
              <a:off x="13750991" y="28028940"/>
              <a:ext cx="2316910" cy="2375716"/>
            </a:xfrm>
            <a:prstGeom prst="blockArc">
              <a:avLst>
                <a:gd name="adj1" fmla="val 10800000"/>
                <a:gd name="adj2" fmla="val 16497482"/>
                <a:gd name="adj3" fmla="val 25418"/>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Rectangle 15">
              <a:extLst>
                <a:ext uri="{FF2B5EF4-FFF2-40B4-BE49-F238E27FC236}">
                  <a16:creationId xmlns:a16="http://schemas.microsoft.com/office/drawing/2014/main" id="{1A0A0322-492B-09DB-C9AF-96D6511AC7B4}"/>
                </a:ext>
              </a:extLst>
            </p:cNvPr>
            <p:cNvSpPr/>
            <p:nvPr/>
          </p:nvSpPr>
          <p:spPr>
            <a:xfrm>
              <a:off x="13719482" y="28264422"/>
              <a:ext cx="597230" cy="956804"/>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Arrow: Right 1039">
              <a:extLst>
                <a:ext uri="{FF2B5EF4-FFF2-40B4-BE49-F238E27FC236}">
                  <a16:creationId xmlns:a16="http://schemas.microsoft.com/office/drawing/2014/main" id="{2F61907A-1111-937B-8FF4-6B88F15BC019}"/>
                </a:ext>
              </a:extLst>
            </p:cNvPr>
            <p:cNvSpPr/>
            <p:nvPr/>
          </p:nvSpPr>
          <p:spPr>
            <a:xfrm>
              <a:off x="14874389" y="29479619"/>
              <a:ext cx="6298407" cy="1212112"/>
            </a:xfrm>
            <a:prstGeom prst="rightArrow">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388166"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a:ea typeface="+mn-ea"/>
                  <a:cs typeface="+mn-cs"/>
                </a:rPr>
                <a:t>EM projects catch advice 2025-2028</a:t>
              </a:r>
            </a:p>
          </p:txBody>
        </p:sp>
      </p:grpSp>
      <p:grpSp>
        <p:nvGrpSpPr>
          <p:cNvPr id="36" name="Group 35">
            <a:extLst>
              <a:ext uri="{FF2B5EF4-FFF2-40B4-BE49-F238E27FC236}">
                <a16:creationId xmlns:a16="http://schemas.microsoft.com/office/drawing/2014/main" id="{BEA8D1A8-BD3B-0DCB-0B40-55092F7806CA}"/>
              </a:ext>
            </a:extLst>
          </p:cNvPr>
          <p:cNvGrpSpPr/>
          <p:nvPr/>
        </p:nvGrpSpPr>
        <p:grpSpPr>
          <a:xfrm>
            <a:off x="989768" y="25170350"/>
            <a:ext cx="13172628" cy="5347209"/>
            <a:chOff x="8000168" y="25344522"/>
            <a:chExt cx="13172628" cy="5347209"/>
          </a:xfrm>
          <a:solidFill>
            <a:schemeClr val="accent5">
              <a:lumMod val="90000"/>
            </a:schemeClr>
          </a:solidFill>
        </p:grpSpPr>
        <p:sp>
          <p:nvSpPr>
            <p:cNvPr id="37" name="Rectangle: Rounded Corners 36">
              <a:extLst>
                <a:ext uri="{FF2B5EF4-FFF2-40B4-BE49-F238E27FC236}">
                  <a16:creationId xmlns:a16="http://schemas.microsoft.com/office/drawing/2014/main" id="{41AF50E5-C083-404F-9FB7-63991AF0DF8F}"/>
                </a:ext>
              </a:extLst>
            </p:cNvPr>
            <p:cNvSpPr/>
            <p:nvPr/>
          </p:nvSpPr>
          <p:spPr>
            <a:xfrm>
              <a:off x="8000168" y="25344522"/>
              <a:ext cx="5657915" cy="3977420"/>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defTabSz="914400">
                <a:defRPr/>
              </a:pPr>
              <a:r>
                <a:rPr lang="en-US" sz="6000" kern="0" dirty="0">
                  <a:solidFill>
                    <a:schemeClr val="bg1"/>
                  </a:solidFill>
                </a:rPr>
                <a:t>Evaluation 1</a:t>
              </a:r>
            </a:p>
            <a:p>
              <a:pPr marL="0" lvl="1" algn="ctr" defTabSz="914400">
                <a:defRPr/>
              </a:pPr>
              <a:endParaRPr lang="en-US" sz="3600" kern="0" dirty="0">
                <a:solidFill>
                  <a:schemeClr val="bg1"/>
                </a:solidFill>
              </a:endParaRPr>
            </a:p>
            <a:p>
              <a:pPr marL="0" lvl="1" algn="ctr" defTabSz="914400">
                <a:defRPr/>
              </a:pPr>
              <a:r>
                <a:rPr lang="en-US" sz="3600" kern="0" dirty="0">
                  <a:solidFill>
                    <a:schemeClr val="bg1"/>
                  </a:solidFill>
                </a:rPr>
                <a:t>Model fit to historical temperature data</a:t>
              </a:r>
            </a:p>
          </p:txBody>
        </p:sp>
        <p:sp>
          <p:nvSpPr>
            <p:cNvPr id="38" name="Block Arc 37">
              <a:extLst>
                <a:ext uri="{FF2B5EF4-FFF2-40B4-BE49-F238E27FC236}">
                  <a16:creationId xmlns:a16="http://schemas.microsoft.com/office/drawing/2014/main" id="{7D41787F-3108-941D-A30E-9120ADDD4F71}"/>
                </a:ext>
              </a:extLst>
            </p:cNvPr>
            <p:cNvSpPr/>
            <p:nvPr/>
          </p:nvSpPr>
          <p:spPr>
            <a:xfrm rot="5400000">
              <a:off x="11998859" y="27291648"/>
              <a:ext cx="2350274" cy="2280410"/>
            </a:xfrm>
            <a:prstGeom prst="blockArc">
              <a:avLst>
                <a:gd name="adj1" fmla="val 10800000"/>
                <a:gd name="adj2" fmla="val 16523304"/>
                <a:gd name="adj3" fmla="val 2596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Block Arc 38">
              <a:extLst>
                <a:ext uri="{FF2B5EF4-FFF2-40B4-BE49-F238E27FC236}">
                  <a16:creationId xmlns:a16="http://schemas.microsoft.com/office/drawing/2014/main" id="{BE8207E1-8FF4-1DBB-10E1-1C02AC68908A}"/>
                </a:ext>
              </a:extLst>
            </p:cNvPr>
            <p:cNvSpPr/>
            <p:nvPr/>
          </p:nvSpPr>
          <p:spPr>
            <a:xfrm rot="16200000">
              <a:off x="13750991" y="28028940"/>
              <a:ext cx="2316910" cy="2375716"/>
            </a:xfrm>
            <a:prstGeom prst="blockArc">
              <a:avLst>
                <a:gd name="adj1" fmla="val 10800000"/>
                <a:gd name="adj2" fmla="val 16497482"/>
                <a:gd name="adj3" fmla="val 2541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Rectangle 39">
              <a:extLst>
                <a:ext uri="{FF2B5EF4-FFF2-40B4-BE49-F238E27FC236}">
                  <a16:creationId xmlns:a16="http://schemas.microsoft.com/office/drawing/2014/main" id="{12C7D6CD-778D-86DE-C5E4-604666B284BA}"/>
                </a:ext>
              </a:extLst>
            </p:cNvPr>
            <p:cNvSpPr/>
            <p:nvPr/>
          </p:nvSpPr>
          <p:spPr>
            <a:xfrm>
              <a:off x="13719482" y="28264422"/>
              <a:ext cx="597230" cy="95680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Arrow: Right 40">
              <a:extLst>
                <a:ext uri="{FF2B5EF4-FFF2-40B4-BE49-F238E27FC236}">
                  <a16:creationId xmlns:a16="http://schemas.microsoft.com/office/drawing/2014/main" id="{6E8F8FAD-D404-956C-1906-2D1EA6F1F3ED}"/>
                </a:ext>
              </a:extLst>
            </p:cNvPr>
            <p:cNvSpPr/>
            <p:nvPr/>
          </p:nvSpPr>
          <p:spPr>
            <a:xfrm>
              <a:off x="14874389" y="29479619"/>
              <a:ext cx="6298407" cy="1212112"/>
            </a:xfrm>
            <a:prstGeom prst="rightArrow">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388166"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a:ea typeface="+mn-ea"/>
                  <a:cs typeface="+mn-cs"/>
                </a:rPr>
                <a:t>EM projects catch advice 202</a:t>
              </a:r>
              <a:r>
                <a:rPr lang="en-US" sz="2800" dirty="0">
                  <a:solidFill>
                    <a:srgbClr val="FFFFFF"/>
                  </a:solidFill>
                  <a:latin typeface="Arial"/>
                </a:rPr>
                <a:t>2</a:t>
              </a:r>
              <a:r>
                <a:rPr kumimoji="0" lang="en-US" sz="2800" b="0" i="0" u="none" strike="noStrike" kern="1200" cap="none" spc="0" normalizeH="0" baseline="0" noProof="0" dirty="0">
                  <a:ln>
                    <a:noFill/>
                  </a:ln>
                  <a:solidFill>
                    <a:srgbClr val="FFFFFF"/>
                  </a:solidFill>
                  <a:effectLst/>
                  <a:uLnTx/>
                  <a:uFillTx/>
                  <a:latin typeface="Arial"/>
                  <a:ea typeface="+mn-ea"/>
                  <a:cs typeface="+mn-cs"/>
                </a:rPr>
                <a:t>-202</a:t>
              </a:r>
              <a:r>
                <a:rPr lang="en-US" sz="2800" dirty="0">
                  <a:solidFill>
                    <a:srgbClr val="FFFFFF"/>
                  </a:solidFill>
                  <a:latin typeface="Arial"/>
                </a:rPr>
                <a:t>5</a:t>
              </a:r>
              <a:endParaRPr kumimoji="0" lang="en-US" sz="2800" b="0" i="0" u="none" strike="noStrike" kern="1200" cap="none" spc="0" normalizeH="0" baseline="0" noProof="0" dirty="0">
                <a:ln>
                  <a:noFill/>
                </a:ln>
                <a:solidFill>
                  <a:srgbClr val="FFFFFF"/>
                </a:solidFill>
                <a:effectLst/>
                <a:uLnTx/>
                <a:uFillTx/>
                <a:latin typeface="Arial"/>
                <a:ea typeface="+mn-ea"/>
                <a:cs typeface="+mn-cs"/>
              </a:endParaRPr>
            </a:p>
          </p:txBody>
        </p:sp>
      </p:grpSp>
      <p:grpSp>
        <p:nvGrpSpPr>
          <p:cNvPr id="44" name="Group 43">
            <a:extLst>
              <a:ext uri="{FF2B5EF4-FFF2-40B4-BE49-F238E27FC236}">
                <a16:creationId xmlns:a16="http://schemas.microsoft.com/office/drawing/2014/main" id="{EE55779E-0639-B084-AB82-A85102C3D166}"/>
              </a:ext>
            </a:extLst>
          </p:cNvPr>
          <p:cNvGrpSpPr/>
          <p:nvPr/>
        </p:nvGrpSpPr>
        <p:grpSpPr>
          <a:xfrm>
            <a:off x="14858168" y="25170350"/>
            <a:ext cx="13172628" cy="5347209"/>
            <a:chOff x="8000168" y="25344522"/>
            <a:chExt cx="13172628" cy="5347209"/>
          </a:xfrm>
          <a:solidFill>
            <a:schemeClr val="bg2">
              <a:lumMod val="50000"/>
            </a:schemeClr>
          </a:solidFill>
        </p:grpSpPr>
        <p:sp>
          <p:nvSpPr>
            <p:cNvPr id="45" name="Rectangle: Rounded Corners 44">
              <a:extLst>
                <a:ext uri="{FF2B5EF4-FFF2-40B4-BE49-F238E27FC236}">
                  <a16:creationId xmlns:a16="http://schemas.microsoft.com/office/drawing/2014/main" id="{992908C7-A987-00ED-69C3-29C23B6F3786}"/>
                </a:ext>
              </a:extLst>
            </p:cNvPr>
            <p:cNvSpPr/>
            <p:nvPr/>
          </p:nvSpPr>
          <p:spPr>
            <a:xfrm>
              <a:off x="8000168" y="25344522"/>
              <a:ext cx="5657915" cy="3977420"/>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defTabSz="914400">
                <a:defRPr/>
              </a:pPr>
              <a:r>
                <a:rPr lang="en-US" sz="6000" kern="0" dirty="0">
                  <a:solidFill>
                    <a:schemeClr val="bg1"/>
                  </a:solidFill>
                </a:rPr>
                <a:t>Evaluation 3</a:t>
              </a:r>
            </a:p>
            <a:p>
              <a:pPr marL="0" lvl="1" algn="ctr" defTabSz="914400">
                <a:defRPr/>
              </a:pPr>
              <a:endParaRPr lang="en-US" sz="3600" kern="0" dirty="0">
                <a:solidFill>
                  <a:schemeClr val="bg1"/>
                </a:solidFill>
              </a:endParaRPr>
            </a:p>
            <a:p>
              <a:pPr marL="0" lvl="1" algn="ctr" defTabSz="914400">
                <a:defRPr/>
              </a:pPr>
              <a:r>
                <a:rPr lang="en-US" sz="3600" kern="0" dirty="0">
                  <a:solidFill>
                    <a:schemeClr val="bg1"/>
                  </a:solidFill>
                </a:rPr>
                <a:t>2025-2028 temperature data incorporated from om</a:t>
              </a:r>
            </a:p>
          </p:txBody>
        </p:sp>
        <p:sp>
          <p:nvSpPr>
            <p:cNvPr id="47" name="Block Arc 46">
              <a:extLst>
                <a:ext uri="{FF2B5EF4-FFF2-40B4-BE49-F238E27FC236}">
                  <a16:creationId xmlns:a16="http://schemas.microsoft.com/office/drawing/2014/main" id="{BE53BD38-43D1-87D6-ECE9-7DA39A629668}"/>
                </a:ext>
              </a:extLst>
            </p:cNvPr>
            <p:cNvSpPr/>
            <p:nvPr/>
          </p:nvSpPr>
          <p:spPr>
            <a:xfrm rot="5400000">
              <a:off x="11998859" y="27291648"/>
              <a:ext cx="2350274" cy="2280410"/>
            </a:xfrm>
            <a:prstGeom prst="blockArc">
              <a:avLst>
                <a:gd name="adj1" fmla="val 10800000"/>
                <a:gd name="adj2" fmla="val 16523304"/>
                <a:gd name="adj3" fmla="val 2596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8" name="Block Arc 47">
              <a:extLst>
                <a:ext uri="{FF2B5EF4-FFF2-40B4-BE49-F238E27FC236}">
                  <a16:creationId xmlns:a16="http://schemas.microsoft.com/office/drawing/2014/main" id="{3CD4A95E-78AB-9815-53F5-52E40CD578D0}"/>
                </a:ext>
              </a:extLst>
            </p:cNvPr>
            <p:cNvSpPr/>
            <p:nvPr/>
          </p:nvSpPr>
          <p:spPr>
            <a:xfrm rot="16200000">
              <a:off x="13750991" y="28028940"/>
              <a:ext cx="2316910" cy="2375716"/>
            </a:xfrm>
            <a:prstGeom prst="blockArc">
              <a:avLst>
                <a:gd name="adj1" fmla="val 10800000"/>
                <a:gd name="adj2" fmla="val 16497482"/>
                <a:gd name="adj3" fmla="val 2541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9" name="Rectangle 48">
              <a:extLst>
                <a:ext uri="{FF2B5EF4-FFF2-40B4-BE49-F238E27FC236}">
                  <a16:creationId xmlns:a16="http://schemas.microsoft.com/office/drawing/2014/main" id="{3BB5252F-8E10-01DA-F38D-98F4D2C5E90D}"/>
                </a:ext>
              </a:extLst>
            </p:cNvPr>
            <p:cNvSpPr/>
            <p:nvPr/>
          </p:nvSpPr>
          <p:spPr>
            <a:xfrm>
              <a:off x="13719482" y="28264422"/>
              <a:ext cx="597230" cy="956804"/>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Arrow: Right 50">
              <a:extLst>
                <a:ext uri="{FF2B5EF4-FFF2-40B4-BE49-F238E27FC236}">
                  <a16:creationId xmlns:a16="http://schemas.microsoft.com/office/drawing/2014/main" id="{EE76C07C-1CEA-D19B-700D-47F57D3F9629}"/>
                </a:ext>
              </a:extLst>
            </p:cNvPr>
            <p:cNvSpPr/>
            <p:nvPr/>
          </p:nvSpPr>
          <p:spPr>
            <a:xfrm>
              <a:off x="14874389" y="29479619"/>
              <a:ext cx="6298407" cy="1212112"/>
            </a:xfrm>
            <a:prstGeom prst="rightArrow">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388166"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a:ea typeface="+mn-ea"/>
                  <a:cs typeface="+mn-cs"/>
                </a:rPr>
                <a:t>EM projects catch advice 202</a:t>
              </a:r>
              <a:r>
                <a:rPr lang="en-US" sz="2800" dirty="0">
                  <a:solidFill>
                    <a:srgbClr val="FFFFFF"/>
                  </a:solidFill>
                  <a:latin typeface="Arial"/>
                </a:rPr>
                <a:t>8</a:t>
              </a:r>
              <a:r>
                <a:rPr kumimoji="0" lang="en-US" sz="2800" b="0" i="0" u="none" strike="noStrike" kern="1200" cap="none" spc="0" normalizeH="0" baseline="0" noProof="0" dirty="0">
                  <a:ln>
                    <a:noFill/>
                  </a:ln>
                  <a:solidFill>
                    <a:srgbClr val="FFFFFF"/>
                  </a:solidFill>
                  <a:effectLst/>
                  <a:uLnTx/>
                  <a:uFillTx/>
                  <a:latin typeface="Arial"/>
                  <a:ea typeface="+mn-ea"/>
                  <a:cs typeface="+mn-cs"/>
                </a:rPr>
                <a:t>-2031</a:t>
              </a:r>
            </a:p>
          </p:txBody>
        </p:sp>
      </p:grpSp>
      <p:sp>
        <p:nvSpPr>
          <p:cNvPr id="1036" name="TextBox 1035">
            <a:extLst>
              <a:ext uri="{FF2B5EF4-FFF2-40B4-BE49-F238E27FC236}">
                <a16:creationId xmlns:a16="http://schemas.microsoft.com/office/drawing/2014/main" id="{B192A6B5-A5FA-8678-A1EA-A4836EF1EAC2}"/>
              </a:ext>
            </a:extLst>
          </p:cNvPr>
          <p:cNvSpPr txBox="1"/>
          <p:nvPr/>
        </p:nvSpPr>
        <p:spPr>
          <a:xfrm>
            <a:off x="29389199" y="27800048"/>
            <a:ext cx="13021110" cy="4185761"/>
          </a:xfrm>
          <a:prstGeom prst="rect">
            <a:avLst/>
          </a:prstGeom>
          <a:noFill/>
        </p:spPr>
        <p:txBody>
          <a:bodyPr wrap="square" rtlCol="0">
            <a:spAutoFit/>
          </a:bodyPr>
          <a:lstStyle/>
          <a:p>
            <a:r>
              <a:rPr lang="en-US" sz="1400" dirty="0">
                <a:solidFill>
                  <a:srgbClr val="000000"/>
                </a:solidFill>
                <a:latin typeface="Avenir Next LT Pro" panose="020B0504020202020204" pitchFamily="34" charset="0"/>
              </a:rPr>
              <a:t>Chen, Y., Maguire, J.J., Dickey-Collas, M., Kempf, A. (2022). Summary Report of the Yellowtail Flounder Research Track Stock Assessment. </a:t>
            </a:r>
            <a:r>
              <a:rPr lang="en-US" sz="1400" dirty="0" err="1">
                <a:solidFill>
                  <a:srgbClr val="000000"/>
                </a:solidFill>
                <a:latin typeface="Avenir Next LT Pro" panose="020B0504020202020204" pitchFamily="34" charset="0"/>
              </a:rPr>
              <a:t>Northesast</a:t>
            </a:r>
            <a:r>
              <a:rPr lang="en-US" sz="1400" dirty="0">
                <a:solidFill>
                  <a:srgbClr val="000000"/>
                </a:solidFill>
                <a:latin typeface="Avenir Next LT Pro" panose="020B0504020202020204" pitchFamily="34" charset="0"/>
              </a:rPr>
              <a:t> Fisheries Science Center, Woods Hole, Massachusetts.</a:t>
            </a:r>
          </a:p>
          <a:p>
            <a:endParaRPr lang="en-US" sz="1400" dirty="0">
              <a:solidFill>
                <a:srgbClr val="000000"/>
              </a:solidFill>
              <a:latin typeface="Avenir Next LT Pro" panose="020B0504020202020204" pitchFamily="34" charset="0"/>
            </a:endParaRPr>
          </a:p>
          <a:p>
            <a:r>
              <a:rPr lang="en-US" sz="1400" dirty="0">
                <a:solidFill>
                  <a:srgbClr val="000000"/>
                </a:solidFill>
                <a:latin typeface="Avenir Next LT Pro" panose="020B0504020202020204" pitchFamily="34" charset="0"/>
              </a:rPr>
              <a:t>Hyun, S.Y., Cadrin, S.X., Roman, S. (2014). Fixed and mixed effect models for fishery data on depth distribution of Georges Bank yellowtail flounder. Fisheries Research, 157, 186-186.</a:t>
            </a:r>
          </a:p>
          <a:p>
            <a:endParaRPr lang="en-US" sz="1400" dirty="0">
              <a:solidFill>
                <a:srgbClr val="000000"/>
              </a:solidFill>
              <a:latin typeface="Avenir Next LT Pro" panose="020B0504020202020204" pitchFamily="34" charset="0"/>
            </a:endParaRPr>
          </a:p>
          <a:p>
            <a:r>
              <a:rPr lang="en-US" sz="1400" dirty="0">
                <a:solidFill>
                  <a:srgbClr val="000000"/>
                </a:solidFill>
                <a:latin typeface="Avenir Next LT Pro" panose="020B0504020202020204" pitchFamily="34" charset="0"/>
              </a:rPr>
              <a:t>Li C (2025). _whamMSE: Management Strategy Evaluation Tool of Woods Hole Assessment Model (WHAM)_. R package version 1.0.0, commit 1397998b05eae9b4766c6fa0377114b3e675461e, &lt;https://github.com/lichengxue/whamMSE&gt;.</a:t>
            </a:r>
          </a:p>
          <a:p>
            <a:endParaRPr lang="en-US" sz="1400" dirty="0">
              <a:solidFill>
                <a:srgbClr val="000000"/>
              </a:solidFill>
              <a:latin typeface="Avenir Next LT Pro" panose="020B0504020202020204" pitchFamily="34" charset="0"/>
            </a:endParaRPr>
          </a:p>
          <a:p>
            <a:r>
              <a:rPr lang="en-US" sz="1400" dirty="0">
                <a:solidFill>
                  <a:srgbClr val="000000"/>
                </a:solidFill>
                <a:latin typeface="Avenir Next LT Pro" panose="020B0504020202020204" pitchFamily="34" charset="0"/>
              </a:rPr>
              <a:t>Ross, A. C., Stock, C. A., </a:t>
            </a:r>
            <a:r>
              <a:rPr lang="en-US" sz="1400" dirty="0" err="1">
                <a:solidFill>
                  <a:srgbClr val="000000"/>
                </a:solidFill>
                <a:latin typeface="Avenir Next LT Pro" panose="020B0504020202020204" pitchFamily="34" charset="0"/>
              </a:rPr>
              <a:t>Adcroft</a:t>
            </a:r>
            <a:r>
              <a:rPr lang="en-US" sz="1400" dirty="0">
                <a:solidFill>
                  <a:srgbClr val="000000"/>
                </a:solidFill>
                <a:latin typeface="Avenir Next LT Pro" panose="020B0504020202020204" pitchFamily="34" charset="0"/>
              </a:rPr>
              <a:t>, A., </a:t>
            </a:r>
            <a:r>
              <a:rPr lang="en-US" sz="1400" dirty="0" err="1">
                <a:solidFill>
                  <a:srgbClr val="000000"/>
                </a:solidFill>
                <a:latin typeface="Avenir Next LT Pro" panose="020B0504020202020204" pitchFamily="34" charset="0"/>
              </a:rPr>
              <a:t>Curchitser</a:t>
            </a:r>
            <a:r>
              <a:rPr lang="en-US" sz="1400" dirty="0">
                <a:solidFill>
                  <a:srgbClr val="000000"/>
                </a:solidFill>
                <a:latin typeface="Avenir Next LT Pro" panose="020B0504020202020204" pitchFamily="34" charset="0"/>
              </a:rPr>
              <a:t>, E., Hallberg, R., Harrison, M. J., Hedstrom, K., Zadeh, N., Alexander, M., Chen, W., </a:t>
            </a:r>
            <a:r>
              <a:rPr lang="en-US" sz="1400" dirty="0" err="1">
                <a:solidFill>
                  <a:srgbClr val="000000"/>
                </a:solidFill>
                <a:latin typeface="Avenir Next LT Pro" panose="020B0504020202020204" pitchFamily="34" charset="0"/>
              </a:rPr>
              <a:t>Drenkard</a:t>
            </a:r>
            <a:r>
              <a:rPr lang="en-US" sz="1400" dirty="0">
                <a:solidFill>
                  <a:srgbClr val="000000"/>
                </a:solidFill>
                <a:latin typeface="Avenir Next LT Pro" panose="020B0504020202020204" pitchFamily="34" charset="0"/>
              </a:rPr>
              <a:t>, E. J., du </a:t>
            </a:r>
            <a:r>
              <a:rPr lang="en-US" sz="1400" dirty="0" err="1">
                <a:solidFill>
                  <a:srgbClr val="000000"/>
                </a:solidFill>
                <a:latin typeface="Avenir Next LT Pro" panose="020B0504020202020204" pitchFamily="34" charset="0"/>
              </a:rPr>
              <a:t>Pontavice</a:t>
            </a:r>
            <a:r>
              <a:rPr lang="en-US" sz="1400" dirty="0">
                <a:solidFill>
                  <a:srgbClr val="000000"/>
                </a:solidFill>
                <a:latin typeface="Avenir Next LT Pro" panose="020B0504020202020204" pitchFamily="34" charset="0"/>
              </a:rPr>
              <a:t>, H., </a:t>
            </a:r>
            <a:r>
              <a:rPr lang="en-US" sz="1400" dirty="0" err="1">
                <a:solidFill>
                  <a:srgbClr val="000000"/>
                </a:solidFill>
                <a:latin typeface="Avenir Next LT Pro" panose="020B0504020202020204" pitchFamily="34" charset="0"/>
              </a:rPr>
              <a:t>Dussin</a:t>
            </a:r>
            <a:r>
              <a:rPr lang="en-US" sz="1400" dirty="0">
                <a:solidFill>
                  <a:srgbClr val="000000"/>
                </a:solidFill>
                <a:latin typeface="Avenir Next LT Pro" panose="020B0504020202020204" pitchFamily="34" charset="0"/>
              </a:rPr>
              <a:t>, R., Gomez, F., John, J. G., Kang, D., Lavoie, D., </a:t>
            </a:r>
            <a:r>
              <a:rPr lang="en-US" sz="1400" dirty="0" err="1">
                <a:solidFill>
                  <a:srgbClr val="000000"/>
                </a:solidFill>
                <a:latin typeface="Avenir Next LT Pro" panose="020B0504020202020204" pitchFamily="34" charset="0"/>
              </a:rPr>
              <a:t>Resplandy</a:t>
            </a:r>
            <a:r>
              <a:rPr lang="en-US" sz="1400" dirty="0">
                <a:solidFill>
                  <a:srgbClr val="000000"/>
                </a:solidFill>
                <a:latin typeface="Avenir Next LT Pro" panose="020B0504020202020204" pitchFamily="34" charset="0"/>
              </a:rPr>
              <a:t>, L., </a:t>
            </a:r>
            <a:r>
              <a:rPr lang="en-US" sz="1400" dirty="0" err="1">
                <a:solidFill>
                  <a:srgbClr val="000000"/>
                </a:solidFill>
                <a:latin typeface="Avenir Next LT Pro" panose="020B0504020202020204" pitchFamily="34" charset="0"/>
              </a:rPr>
              <a:t>Roobaert</a:t>
            </a:r>
            <a:r>
              <a:rPr lang="en-US" sz="1400" dirty="0">
                <a:solidFill>
                  <a:srgbClr val="000000"/>
                </a:solidFill>
                <a:latin typeface="Avenir Next LT Pro" panose="020B0504020202020204" pitchFamily="34" charset="0"/>
              </a:rPr>
              <a:t>, A., Saba, V., Shin, S.-I., Siedlecki, S., and Simkins, J.: A high-resolution physical–biogeochemical model for marine resource applications in the northwest Atlantic (MOM6-COBALT-NWA12 v1.0). (2013). </a:t>
            </a:r>
            <a:r>
              <a:rPr lang="en-US" sz="1400" dirty="0" err="1">
                <a:solidFill>
                  <a:srgbClr val="000000"/>
                </a:solidFill>
                <a:latin typeface="Avenir Next LT Pro" panose="020B0504020202020204" pitchFamily="34" charset="0"/>
              </a:rPr>
              <a:t>Geosci</a:t>
            </a:r>
            <a:r>
              <a:rPr lang="en-US" sz="1400" dirty="0">
                <a:solidFill>
                  <a:srgbClr val="000000"/>
                </a:solidFill>
                <a:latin typeface="Avenir Next LT Pro" panose="020B0504020202020204" pitchFamily="34" charset="0"/>
              </a:rPr>
              <a:t>. Model Dev., 16, 6943–6985, https://doi.org/10.5194/gmd-16-6943-2023.</a:t>
            </a:r>
          </a:p>
          <a:p>
            <a:endParaRPr lang="en-US" sz="1400" dirty="0">
              <a:solidFill>
                <a:srgbClr val="000000"/>
              </a:solidFill>
              <a:latin typeface="Avenir Next LT Pro" panose="020B0504020202020204" pitchFamily="34" charset="0"/>
            </a:endParaRPr>
          </a:p>
          <a:p>
            <a:r>
              <a:rPr lang="en-US" sz="1400" dirty="0">
                <a:solidFill>
                  <a:srgbClr val="000000"/>
                </a:solidFill>
                <a:latin typeface="Avenir Next LT Pro" panose="020B0504020202020204" pitchFamily="34" charset="0"/>
              </a:rPr>
              <a:t>Stock, B. C., and Miller, T. J. 2021. The Woods Hole Assessment Model (WHAM):</a:t>
            </a:r>
          </a:p>
          <a:p>
            <a:r>
              <a:rPr lang="en-US" sz="1400" dirty="0">
                <a:solidFill>
                  <a:srgbClr val="000000"/>
                </a:solidFill>
                <a:latin typeface="Avenir Next LT Pro" panose="020B0504020202020204" pitchFamily="34" charset="0"/>
              </a:rPr>
              <a:t>A general state-space assessment framework that incorporates time- and</a:t>
            </a:r>
          </a:p>
          <a:p>
            <a:r>
              <a:rPr lang="en-US" sz="1400" dirty="0">
                <a:solidFill>
                  <a:srgbClr val="000000"/>
                </a:solidFill>
                <a:latin typeface="Avenir Next LT Pro" panose="020B0504020202020204" pitchFamily="34" charset="0"/>
              </a:rPr>
              <a:t>age-varying processes via random effects and links to environmental </a:t>
            </a:r>
          </a:p>
          <a:p>
            <a:r>
              <a:rPr lang="en-US" sz="1400" dirty="0">
                <a:solidFill>
                  <a:srgbClr val="000000"/>
                </a:solidFill>
                <a:latin typeface="Avenir Next LT Pro" panose="020B0504020202020204" pitchFamily="34" charset="0"/>
              </a:rPr>
              <a:t>covariates. Fisheries Research, 240: 105967. doi:10.1016/j.fishres.2021.105967</a:t>
            </a:r>
            <a:endParaRPr lang="en-US" sz="1400" dirty="0">
              <a:latin typeface="Avenir Next LT Pro" panose="020B0504020202020204" pitchFamily="34" charset="0"/>
            </a:endParaRPr>
          </a:p>
          <a:p>
            <a:endParaRPr lang="en-US" sz="1400" dirty="0"/>
          </a:p>
        </p:txBody>
      </p:sp>
      <p:pic>
        <p:nvPicPr>
          <p:cNvPr id="1037" name="Picture 12" descr="Sophie Wulfing">
            <a:extLst>
              <a:ext uri="{FF2B5EF4-FFF2-40B4-BE49-F238E27FC236}">
                <a16:creationId xmlns:a16="http://schemas.microsoft.com/office/drawing/2014/main" id="{1FECA9BA-7166-27C0-36DB-5889916100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704399" y="-26838"/>
            <a:ext cx="4945835" cy="4945835"/>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9314347"/>
      </p:ext>
    </p:extLst>
  </p:cSld>
  <p:clrMapOvr>
    <a:masterClrMapping/>
  </p:clrMapOvr>
</p:sld>
</file>

<file path=ppt/theme/theme1.xml><?xml version="1.0" encoding="utf-8"?>
<a:theme xmlns:a="http://schemas.openxmlformats.org/drawingml/2006/main" name="36&quot; x 48&quot;">
  <a:themeElements>
    <a:clrScheme name="Test pallette 2">
      <a:dk1>
        <a:srgbClr val="000000"/>
      </a:dk1>
      <a:lt1>
        <a:srgbClr val="FFFFFF"/>
      </a:lt1>
      <a:dk2>
        <a:srgbClr val="4E5B6F"/>
      </a:dk2>
      <a:lt2>
        <a:srgbClr val="D6ECFF"/>
      </a:lt2>
      <a:accent1>
        <a:srgbClr val="FCBF45"/>
      </a:accent1>
      <a:accent2>
        <a:srgbClr val="2197FF"/>
      </a:accent2>
      <a:accent3>
        <a:srgbClr val="687196"/>
      </a:accent3>
      <a:accent4>
        <a:srgbClr val="A27872"/>
      </a:accent4>
      <a:accent5>
        <a:srgbClr val="BCBCEE"/>
      </a:accent5>
      <a:accent6>
        <a:srgbClr val="00B0F0"/>
      </a:accent6>
      <a:hlink>
        <a:srgbClr val="00ADDC"/>
      </a:hlink>
      <a:folHlink>
        <a:srgbClr val="004B8D"/>
      </a:folHlink>
    </a:clrScheme>
    <a:fontScheme name="UMass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tandard-research-poster-template-36x48-final.potx" id="{122EDA18-0B03-48AE-8BB3-DA9D80D53827}" vid="{110A95A0-D310-43DC-A307-FE0A2BEB26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 x 48"</Template>
  <TotalTime>4832</TotalTime>
  <Words>958</Words>
  <Application>Microsoft Office PowerPoint</Application>
  <PresentationFormat>Custom</PresentationFormat>
  <Paragraphs>56</Paragraphs>
  <Slides>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Arial</vt:lpstr>
      <vt:lpstr>Avenir Next LT Pro</vt:lpstr>
      <vt:lpstr>Calibri</vt:lpstr>
      <vt:lpstr>Franklin Gothic Medium</vt:lpstr>
      <vt:lpstr>Frutiger LT Std 45 Light</vt:lpstr>
      <vt:lpstr>Frutiger LT Std 55 Roman</vt:lpstr>
      <vt:lpstr>Rockwell</vt:lpstr>
      <vt:lpstr>Trebuchet MS</vt:lpstr>
      <vt:lpstr>36" x 48"</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Kamran A Walsh</dc:creator>
  <cp:lastModifiedBy>Sophie Wulfing</cp:lastModifiedBy>
  <cp:revision>168</cp:revision>
  <dcterms:created xsi:type="dcterms:W3CDTF">2024-10-16T17:16:58Z</dcterms:created>
  <dcterms:modified xsi:type="dcterms:W3CDTF">2025-08-23T15:05:29Z</dcterms:modified>
</cp:coreProperties>
</file>